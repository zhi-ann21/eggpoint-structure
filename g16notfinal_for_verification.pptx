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9" r:id="rId8"/>
    <p:sldId id="282" r:id="rId9"/>
    <p:sldId id="268" r:id="rId10"/>
    <p:sldId id="270" r:id="rId11"/>
    <p:sldId id="271" r:id="rId12"/>
    <p:sldId id="272" r:id="rId13"/>
    <p:sldId id="273" r:id="rId14"/>
    <p:sldId id="284" r:id="rId15"/>
    <p:sldId id="274" r:id="rId16"/>
    <p:sldId id="283" r:id="rId17"/>
  </p:sldIdLst>
  <p:sldSz cx="18288000" cy="10287000"/>
  <p:notesSz cx="7102475" cy="11217275"/>
  <p:embeddedFontLst>
    <p:embeddedFont>
      <p:font typeface="Century Gothic" panose="020B0502020202020204" pitchFamily="3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91" userDrawn="1">
          <p15:clr>
            <a:srgbClr val="A4A3A4"/>
          </p15:clr>
        </p15:guide>
        <p15:guide id="2" pos="28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7B75B05-E61A-46E2-B89D-12E1AA7B1EE1}"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56" d="100"/>
          <a:sy n="56" d="100"/>
        </p:scale>
        <p:origin x="610" y="62"/>
      </p:cViewPr>
      <p:guideLst>
        <p:guide orient="horz" pos="2191"/>
        <p:guide pos="2884"/>
      </p:guideLst>
    </p:cSldViewPr>
  </p:slideViewPr>
  <p:notesTextViewPr>
    <p:cViewPr>
      <p:scale>
        <a:sx n="1" d="1"/>
        <a:sy n="1" d="1"/>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87325" y="841375"/>
            <a:ext cx="7478713" cy="42068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10248" y="5328205"/>
            <a:ext cx="5681980" cy="5047774"/>
          </a:xfrm>
          <a:prstGeom prst="rect">
            <a:avLst/>
          </a:prstGeom>
          <a:noFill/>
          <a:ln>
            <a:noFill/>
          </a:ln>
        </p:spPr>
        <p:txBody>
          <a:bodyPr spcFirstLastPara="1" wrap="square" lIns="104650" tIns="104650" rIns="104650" bIns="104650"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txBox="1">
            <a:spLocks noGrp="1"/>
          </p:cNvSpPr>
          <p:nvPr>
            <p:ph type="body" idx="1"/>
          </p:nvPr>
        </p:nvSpPr>
        <p:spPr>
          <a:xfrm>
            <a:off x="710248" y="5328205"/>
            <a:ext cx="5681980" cy="5047774"/>
          </a:xfrm>
          <a:prstGeom prst="rect">
            <a:avLst/>
          </a:prstGeom>
          <a:noFill/>
          <a:ln>
            <a:noFill/>
          </a:ln>
        </p:spPr>
        <p:txBody>
          <a:bodyPr spcFirstLastPara="1" wrap="square" lIns="104650" tIns="104650" rIns="104650" bIns="104650" anchor="t" anchorCtr="0">
            <a:noAutofit/>
          </a:bodyPr>
          <a:lstStyle/>
          <a:p>
            <a:pPr marL="0" lvl="0" indent="0" algn="l" rtl="0">
              <a:lnSpc>
                <a:spcPct val="100000"/>
              </a:lnSpc>
              <a:spcBef>
                <a:spcPts val="0"/>
              </a:spcBef>
              <a:spcAft>
                <a:spcPts val="0"/>
              </a:spcAft>
              <a:buSzPts val="1100"/>
              <a:buNone/>
            </a:pPr>
            <a:endParaRPr/>
          </a:p>
        </p:txBody>
      </p:sp>
      <p:sp>
        <p:nvSpPr>
          <p:cNvPr id="64" name="Google Shape;64;p1:notes"/>
          <p:cNvSpPr>
            <a:spLocks noGrp="1" noRot="1" noChangeAspect="1"/>
          </p:cNvSpPr>
          <p:nvPr>
            <p:ph type="sldImg" idx="2"/>
          </p:nvPr>
        </p:nvSpPr>
        <p:spPr>
          <a:xfrm>
            <a:off x="-187325" y="841375"/>
            <a:ext cx="7477125" cy="42068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710248" y="5328205"/>
            <a:ext cx="5681980" cy="5047774"/>
          </a:xfrm>
          <a:prstGeom prst="rect">
            <a:avLst/>
          </a:prstGeom>
          <a:noFill/>
          <a:ln>
            <a:noFill/>
          </a:ln>
        </p:spPr>
        <p:txBody>
          <a:bodyPr spcFirstLastPara="1" wrap="square" lIns="104650" tIns="104650" rIns="104650" bIns="104650" anchor="t" anchorCtr="0">
            <a:noAutofit/>
          </a:bodyPr>
          <a:lstStyle/>
          <a:p>
            <a:pPr marL="0" lvl="0" indent="0" algn="l" rtl="0">
              <a:lnSpc>
                <a:spcPct val="100000"/>
              </a:lnSpc>
              <a:spcBef>
                <a:spcPts val="0"/>
              </a:spcBef>
              <a:spcAft>
                <a:spcPts val="0"/>
              </a:spcAft>
              <a:buSzPts val="1100"/>
              <a:buNone/>
            </a:pPr>
            <a:endParaRPr/>
          </a:p>
        </p:txBody>
      </p:sp>
      <p:sp>
        <p:nvSpPr>
          <p:cNvPr id="73" name="Google Shape;73;p2:notes"/>
          <p:cNvSpPr>
            <a:spLocks noGrp="1" noRot="1" noChangeAspect="1"/>
          </p:cNvSpPr>
          <p:nvPr>
            <p:ph type="sldImg" idx="2"/>
          </p:nvPr>
        </p:nvSpPr>
        <p:spPr>
          <a:xfrm>
            <a:off x="-187325" y="841375"/>
            <a:ext cx="7477125" cy="42068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0:notes"/>
          <p:cNvSpPr txBox="1">
            <a:spLocks noGrp="1"/>
          </p:cNvSpPr>
          <p:nvPr>
            <p:ph type="body" idx="1"/>
          </p:nvPr>
        </p:nvSpPr>
        <p:spPr>
          <a:xfrm>
            <a:off x="710248" y="5328205"/>
            <a:ext cx="5681980" cy="5047774"/>
          </a:xfrm>
          <a:prstGeom prst="rect">
            <a:avLst/>
          </a:prstGeom>
          <a:noFill/>
          <a:ln>
            <a:noFill/>
          </a:ln>
        </p:spPr>
        <p:txBody>
          <a:bodyPr spcFirstLastPara="1" wrap="square" lIns="104650" tIns="104650" rIns="104650" bIns="104650" anchor="t" anchorCtr="0">
            <a:noAutofit/>
          </a:bodyPr>
          <a:lstStyle/>
          <a:p>
            <a:pPr marL="0" lvl="0" indent="0" algn="l" rtl="0">
              <a:lnSpc>
                <a:spcPct val="100000"/>
              </a:lnSpc>
              <a:spcBef>
                <a:spcPts val="0"/>
              </a:spcBef>
              <a:spcAft>
                <a:spcPts val="0"/>
              </a:spcAft>
              <a:buSzPts val="1100"/>
              <a:buNone/>
            </a:pPr>
            <a:endParaRPr/>
          </a:p>
        </p:txBody>
      </p:sp>
      <p:sp>
        <p:nvSpPr>
          <p:cNvPr id="92" name="Google Shape;92;p20:notes"/>
          <p:cNvSpPr>
            <a:spLocks noGrp="1" noRot="1" noChangeAspect="1"/>
          </p:cNvSpPr>
          <p:nvPr>
            <p:ph type="sldImg" idx="2"/>
          </p:nvPr>
        </p:nvSpPr>
        <p:spPr>
          <a:xfrm>
            <a:off x="-187325" y="841375"/>
            <a:ext cx="7477125" cy="42068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1:notes"/>
          <p:cNvSpPr txBox="1">
            <a:spLocks noGrp="1"/>
          </p:cNvSpPr>
          <p:nvPr>
            <p:ph type="body" idx="1"/>
          </p:nvPr>
        </p:nvSpPr>
        <p:spPr>
          <a:xfrm>
            <a:off x="710248" y="5328205"/>
            <a:ext cx="5681980" cy="5047774"/>
          </a:xfrm>
          <a:prstGeom prst="rect">
            <a:avLst/>
          </a:prstGeom>
          <a:noFill/>
          <a:ln>
            <a:noFill/>
          </a:ln>
        </p:spPr>
        <p:txBody>
          <a:bodyPr spcFirstLastPara="1" wrap="square" lIns="104650" tIns="104650" rIns="104650" bIns="104650" anchor="t" anchorCtr="0">
            <a:noAutofit/>
          </a:bodyPr>
          <a:lstStyle/>
          <a:p>
            <a:pPr marL="0" lvl="0" indent="0" algn="l" rtl="0">
              <a:lnSpc>
                <a:spcPct val="100000"/>
              </a:lnSpc>
              <a:spcBef>
                <a:spcPts val="0"/>
              </a:spcBef>
              <a:spcAft>
                <a:spcPts val="0"/>
              </a:spcAft>
              <a:buSzPts val="1100"/>
              <a:buNone/>
            </a:pPr>
            <a:endParaRPr/>
          </a:p>
        </p:txBody>
      </p:sp>
      <p:sp>
        <p:nvSpPr>
          <p:cNvPr id="114" name="Google Shape;114;p21:notes"/>
          <p:cNvSpPr>
            <a:spLocks noGrp="1" noRot="1" noChangeAspect="1"/>
          </p:cNvSpPr>
          <p:nvPr>
            <p:ph type="sldImg" idx="2"/>
          </p:nvPr>
        </p:nvSpPr>
        <p:spPr>
          <a:xfrm>
            <a:off x="-187325" y="841375"/>
            <a:ext cx="7477125" cy="42068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2:notes"/>
          <p:cNvSpPr txBox="1">
            <a:spLocks noGrp="1"/>
          </p:cNvSpPr>
          <p:nvPr>
            <p:ph type="body" idx="1"/>
          </p:nvPr>
        </p:nvSpPr>
        <p:spPr>
          <a:xfrm>
            <a:off x="710248" y="5328205"/>
            <a:ext cx="5681980" cy="5047774"/>
          </a:xfrm>
          <a:prstGeom prst="rect">
            <a:avLst/>
          </a:prstGeom>
          <a:noFill/>
          <a:ln>
            <a:noFill/>
          </a:ln>
        </p:spPr>
        <p:txBody>
          <a:bodyPr spcFirstLastPara="1" wrap="square" lIns="104650" tIns="104650" rIns="104650" bIns="104650" anchor="t" anchorCtr="0">
            <a:noAutofit/>
          </a:bodyPr>
          <a:lstStyle/>
          <a:p>
            <a:pPr marL="0" lvl="0" indent="0" algn="l" rtl="0">
              <a:lnSpc>
                <a:spcPct val="100000"/>
              </a:lnSpc>
              <a:spcBef>
                <a:spcPts val="0"/>
              </a:spcBef>
              <a:spcAft>
                <a:spcPts val="0"/>
              </a:spcAft>
              <a:buSzPts val="1100"/>
              <a:buNone/>
            </a:pPr>
            <a:endParaRPr/>
          </a:p>
        </p:txBody>
      </p:sp>
      <p:sp>
        <p:nvSpPr>
          <p:cNvPr id="131" name="Google Shape;131;p22:notes"/>
          <p:cNvSpPr>
            <a:spLocks noGrp="1" noRot="1" noChangeAspect="1"/>
          </p:cNvSpPr>
          <p:nvPr>
            <p:ph type="sldImg" idx="2"/>
          </p:nvPr>
        </p:nvSpPr>
        <p:spPr>
          <a:xfrm>
            <a:off x="-187325" y="841375"/>
            <a:ext cx="7477125" cy="42068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3:notes"/>
          <p:cNvSpPr txBox="1">
            <a:spLocks noGrp="1"/>
          </p:cNvSpPr>
          <p:nvPr>
            <p:ph type="body" idx="1"/>
          </p:nvPr>
        </p:nvSpPr>
        <p:spPr>
          <a:xfrm>
            <a:off x="710248" y="5328205"/>
            <a:ext cx="5681980" cy="5047774"/>
          </a:xfrm>
          <a:prstGeom prst="rect">
            <a:avLst/>
          </a:prstGeom>
          <a:noFill/>
          <a:ln>
            <a:noFill/>
          </a:ln>
        </p:spPr>
        <p:txBody>
          <a:bodyPr spcFirstLastPara="1" wrap="square" lIns="104650" tIns="104650" rIns="104650" bIns="104650" anchor="t" anchorCtr="0">
            <a:noAutofit/>
          </a:bodyPr>
          <a:lstStyle/>
          <a:p>
            <a:pPr marL="0" lvl="0" indent="0" algn="l" rtl="0">
              <a:lnSpc>
                <a:spcPct val="100000"/>
              </a:lnSpc>
              <a:spcBef>
                <a:spcPts val="0"/>
              </a:spcBef>
              <a:spcAft>
                <a:spcPts val="0"/>
              </a:spcAft>
              <a:buSzPts val="1100"/>
              <a:buNone/>
            </a:pPr>
            <a:endParaRPr/>
          </a:p>
        </p:txBody>
      </p:sp>
      <p:sp>
        <p:nvSpPr>
          <p:cNvPr id="148" name="Google Shape;148;p23:notes"/>
          <p:cNvSpPr>
            <a:spLocks noGrp="1" noRot="1" noChangeAspect="1"/>
          </p:cNvSpPr>
          <p:nvPr>
            <p:ph type="sldImg" idx="2"/>
          </p:nvPr>
        </p:nvSpPr>
        <p:spPr>
          <a:xfrm>
            <a:off x="-187325" y="841375"/>
            <a:ext cx="7477125" cy="42068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4" name="Google Shape;294;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B6315F7C-E71A-3852-4512-F71F5221ADF1}"/>
            </a:ext>
          </a:extLst>
        </p:cNvPr>
        <p:cNvGrpSpPr/>
        <p:nvPr/>
      </p:nvGrpSpPr>
      <p:grpSpPr>
        <a:xfrm>
          <a:off x="0" y="0"/>
          <a:ext cx="0" cy="0"/>
          <a:chOff x="0" y="0"/>
          <a:chExt cx="0" cy="0"/>
        </a:xfrm>
      </p:grpSpPr>
      <p:sp>
        <p:nvSpPr>
          <p:cNvPr id="293" name="Google Shape;293;p32:notes">
            <a:extLst>
              <a:ext uri="{FF2B5EF4-FFF2-40B4-BE49-F238E27FC236}">
                <a16:creationId xmlns:a16="http://schemas.microsoft.com/office/drawing/2014/main" id="{9C9D1BBB-BAD7-D1CA-7092-22B1C962336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4" name="Google Shape;294;p32:notes">
            <a:extLst>
              <a:ext uri="{FF2B5EF4-FFF2-40B4-BE49-F238E27FC236}">
                <a16:creationId xmlns:a16="http://schemas.microsoft.com/office/drawing/2014/main" id="{B0DD1F15-E36B-A049-9031-8C1475B641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350652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1" name="Google Shape;271;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5" name="Google Shape;315;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34:notes"/>
          <p:cNvSpPr txBox="1">
            <a:spLocks noGrp="1"/>
          </p:cNvSpPr>
          <p:nvPr>
            <p:ph type="body" idx="1"/>
          </p:nvPr>
        </p:nvSpPr>
        <p:spPr>
          <a:xfrm>
            <a:off x="710248" y="5328205"/>
            <a:ext cx="5681980" cy="5047774"/>
          </a:xfrm>
          <a:prstGeom prst="rect">
            <a:avLst/>
          </a:prstGeom>
          <a:noFill/>
          <a:ln>
            <a:noFill/>
          </a:ln>
        </p:spPr>
        <p:txBody>
          <a:bodyPr spcFirstLastPara="1" wrap="square" lIns="104650" tIns="104650" rIns="104650" bIns="104650" anchor="t" anchorCtr="0">
            <a:noAutofit/>
          </a:bodyPr>
          <a:lstStyle/>
          <a:p>
            <a:pPr marL="0" lvl="0" indent="0" algn="l" rtl="0">
              <a:lnSpc>
                <a:spcPct val="100000"/>
              </a:lnSpc>
              <a:spcBef>
                <a:spcPts val="0"/>
              </a:spcBef>
              <a:spcAft>
                <a:spcPts val="0"/>
              </a:spcAft>
              <a:buSzPts val="1100"/>
              <a:buNone/>
            </a:pPr>
            <a:endParaRPr/>
          </a:p>
        </p:txBody>
      </p:sp>
      <p:sp>
        <p:nvSpPr>
          <p:cNvPr id="333" name="Google Shape;333;p34:notes"/>
          <p:cNvSpPr>
            <a:spLocks noGrp="1" noRot="1" noChangeAspect="1"/>
          </p:cNvSpPr>
          <p:nvPr>
            <p:ph type="sldImg" idx="2"/>
          </p:nvPr>
        </p:nvSpPr>
        <p:spPr>
          <a:xfrm>
            <a:off x="-187325" y="841375"/>
            <a:ext cx="7477125" cy="42068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35:notes"/>
          <p:cNvSpPr txBox="1">
            <a:spLocks noGrp="1"/>
          </p:cNvSpPr>
          <p:nvPr>
            <p:ph type="body" idx="1"/>
          </p:nvPr>
        </p:nvSpPr>
        <p:spPr>
          <a:xfrm>
            <a:off x="710248" y="5328205"/>
            <a:ext cx="5681980" cy="5047774"/>
          </a:xfrm>
          <a:prstGeom prst="rect">
            <a:avLst/>
          </a:prstGeom>
          <a:noFill/>
          <a:ln>
            <a:noFill/>
          </a:ln>
        </p:spPr>
        <p:txBody>
          <a:bodyPr spcFirstLastPara="1" wrap="square" lIns="104650" tIns="104650" rIns="104650" bIns="104650" anchor="t" anchorCtr="0">
            <a:noAutofit/>
          </a:bodyPr>
          <a:lstStyle/>
          <a:p>
            <a:pPr marL="0" lvl="0" indent="0" algn="l" rtl="0">
              <a:lnSpc>
                <a:spcPct val="100000"/>
              </a:lnSpc>
              <a:spcBef>
                <a:spcPts val="0"/>
              </a:spcBef>
              <a:spcAft>
                <a:spcPts val="0"/>
              </a:spcAft>
              <a:buSzPts val="1100"/>
              <a:buNone/>
            </a:pPr>
            <a:endParaRPr/>
          </a:p>
        </p:txBody>
      </p:sp>
      <p:sp>
        <p:nvSpPr>
          <p:cNvPr id="356" name="Google Shape;356;p35:notes"/>
          <p:cNvSpPr>
            <a:spLocks noGrp="1" noRot="1" noChangeAspect="1"/>
          </p:cNvSpPr>
          <p:nvPr>
            <p:ph type="sldImg" idx="2"/>
          </p:nvPr>
        </p:nvSpPr>
        <p:spPr>
          <a:xfrm>
            <a:off x="-187325" y="841375"/>
            <a:ext cx="7477125" cy="42068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9" name="Google Shape;379;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a:extLst>
            <a:ext uri="{FF2B5EF4-FFF2-40B4-BE49-F238E27FC236}">
              <a16:creationId xmlns:a16="http://schemas.microsoft.com/office/drawing/2014/main" id="{DB420773-2A36-42C1-A4DC-AEC038B01E03}"/>
            </a:ext>
          </a:extLst>
        </p:cNvPr>
        <p:cNvGrpSpPr/>
        <p:nvPr/>
      </p:nvGrpSpPr>
      <p:grpSpPr>
        <a:xfrm>
          <a:off x="0" y="0"/>
          <a:ext cx="0" cy="0"/>
          <a:chOff x="0" y="0"/>
          <a:chExt cx="0" cy="0"/>
        </a:xfrm>
      </p:grpSpPr>
      <p:sp>
        <p:nvSpPr>
          <p:cNvPr id="378" name="Google Shape;378;p36:notes">
            <a:extLst>
              <a:ext uri="{FF2B5EF4-FFF2-40B4-BE49-F238E27FC236}">
                <a16:creationId xmlns:a16="http://schemas.microsoft.com/office/drawing/2014/main" id="{62326C71-F180-ABF1-55F1-1E02CEC6361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9" name="Google Shape;379;p36:notes">
            <a:extLst>
              <a:ext uri="{FF2B5EF4-FFF2-40B4-BE49-F238E27FC236}">
                <a16:creationId xmlns:a16="http://schemas.microsoft.com/office/drawing/2014/main" id="{A141C8CC-05B3-096E-3CDD-113AD08F60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913462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9" name="Google Shape;399;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F0ED7DD4-A1A4-0D27-F62D-6D490C5D2D0C}"/>
            </a:ext>
          </a:extLst>
        </p:cNvPr>
        <p:cNvGrpSpPr/>
        <p:nvPr/>
      </p:nvGrpSpPr>
      <p:grpSpPr>
        <a:xfrm>
          <a:off x="0" y="0"/>
          <a:ext cx="0" cy="0"/>
          <a:chOff x="0" y="0"/>
          <a:chExt cx="0" cy="0"/>
        </a:xfrm>
      </p:grpSpPr>
      <p:sp>
        <p:nvSpPr>
          <p:cNvPr id="63" name="Google Shape;63;p1:notes">
            <a:extLst>
              <a:ext uri="{FF2B5EF4-FFF2-40B4-BE49-F238E27FC236}">
                <a16:creationId xmlns:a16="http://schemas.microsoft.com/office/drawing/2014/main" id="{A1CBC8D6-71F7-BCD6-AE1B-558F4C730C25}"/>
              </a:ext>
            </a:extLst>
          </p:cNvPr>
          <p:cNvSpPr txBox="1">
            <a:spLocks noGrp="1"/>
          </p:cNvSpPr>
          <p:nvPr>
            <p:ph type="body" idx="1"/>
          </p:nvPr>
        </p:nvSpPr>
        <p:spPr>
          <a:xfrm>
            <a:off x="710248" y="5328205"/>
            <a:ext cx="5681980" cy="5047774"/>
          </a:xfrm>
          <a:prstGeom prst="rect">
            <a:avLst/>
          </a:prstGeom>
          <a:noFill/>
          <a:ln>
            <a:noFill/>
          </a:ln>
        </p:spPr>
        <p:txBody>
          <a:bodyPr spcFirstLastPara="1" wrap="square" lIns="104650" tIns="104650" rIns="104650" bIns="104650" anchor="t" anchorCtr="0">
            <a:noAutofit/>
          </a:bodyPr>
          <a:lstStyle/>
          <a:p>
            <a:pPr marL="0" lvl="0" indent="0" algn="l" rtl="0">
              <a:lnSpc>
                <a:spcPct val="100000"/>
              </a:lnSpc>
              <a:spcBef>
                <a:spcPts val="0"/>
              </a:spcBef>
              <a:spcAft>
                <a:spcPts val="0"/>
              </a:spcAft>
              <a:buSzPts val="1100"/>
              <a:buNone/>
            </a:pPr>
            <a:endParaRPr/>
          </a:p>
        </p:txBody>
      </p:sp>
      <p:sp>
        <p:nvSpPr>
          <p:cNvPr id="64" name="Google Shape;64;p1:notes">
            <a:extLst>
              <a:ext uri="{FF2B5EF4-FFF2-40B4-BE49-F238E27FC236}">
                <a16:creationId xmlns:a16="http://schemas.microsoft.com/office/drawing/2014/main" id="{6D79D56F-07B6-BFB9-F46C-D4E417A56FAB}"/>
              </a:ext>
            </a:extLst>
          </p:cNvPr>
          <p:cNvSpPr>
            <a:spLocks noGrp="1" noRot="1" noChangeAspect="1"/>
          </p:cNvSpPr>
          <p:nvPr>
            <p:ph type="sldImg" idx="2"/>
          </p:nvPr>
        </p:nvSpPr>
        <p:spPr>
          <a:xfrm>
            <a:off x="-187325" y="841375"/>
            <a:ext cx="7477125" cy="42068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47664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5"/>
        <p:cNvGrpSpPr/>
        <p:nvPr/>
      </p:nvGrpSpPr>
      <p:grpSpPr>
        <a:xfrm>
          <a:off x="0" y="0"/>
          <a:ext cx="0" cy="0"/>
          <a:chOff x="0" y="0"/>
          <a:chExt cx="0" cy="0"/>
        </a:xfrm>
      </p:grpSpPr>
      <p:sp>
        <p:nvSpPr>
          <p:cNvPr id="16" name="Google Shape;16;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8" name="Google Shape;18;p1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9" name="Google Shape;19;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2"/>
        <p:cNvGrpSpPr/>
        <p:nvPr/>
      </p:nvGrpSpPr>
      <p:grpSpPr>
        <a:xfrm>
          <a:off x="0" y="0"/>
          <a:ext cx="0" cy="0"/>
          <a:chOff x="0" y="0"/>
          <a:chExt cx="0" cy="0"/>
        </a:xfrm>
      </p:grpSpPr>
      <p:sp>
        <p:nvSpPr>
          <p:cNvPr id="23" name="Google Shape;23;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panose="020F0502020204030204"/>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25" name="Google Shape;25;p1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26" name="Google Shape;26;p14"/>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27" name="Google Shape;27;p14"/>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28" name="Google Shape;28;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6"/>
        <p:cNvGrpSpPr/>
        <p:nvPr/>
      </p:nvGrpSpPr>
      <p:grpSpPr>
        <a:xfrm>
          <a:off x="0" y="0"/>
          <a:ext cx="0" cy="0"/>
          <a:chOff x="0" y="0"/>
          <a:chExt cx="0" cy="0"/>
        </a:xfrm>
      </p:grpSpPr>
      <p:sp>
        <p:nvSpPr>
          <p:cNvPr id="37" name="Google Shape;37;p1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panose="020F0502020204030204"/>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39" name="Google Shape;39;p1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40" name="Google Shape;40;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3"/>
        <p:cNvGrpSpPr/>
        <p:nvPr/>
      </p:nvGrpSpPr>
      <p:grpSpPr>
        <a:xfrm>
          <a:off x="0" y="0"/>
          <a:ext cx="0" cy="0"/>
          <a:chOff x="0" y="0"/>
          <a:chExt cx="0" cy="0"/>
        </a:xfrm>
      </p:grpSpPr>
      <p:sp>
        <p:nvSpPr>
          <p:cNvPr id="44" name="Google Shape;44;p1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panose="020F0502020204030204"/>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7"/>
          <p:cNvSpPr>
            <a:spLocks noGrp="1"/>
          </p:cNvSpPr>
          <p:nvPr>
            <p:ph type="pic" idx="2"/>
          </p:nvPr>
        </p:nvSpPr>
        <p:spPr>
          <a:xfrm>
            <a:off x="1792288" y="612775"/>
            <a:ext cx="5486400" cy="4114800"/>
          </a:xfrm>
          <a:prstGeom prst="rect">
            <a:avLst/>
          </a:prstGeom>
          <a:noFill/>
          <a:ln>
            <a:noFill/>
          </a:ln>
        </p:spPr>
      </p:sp>
      <p:sp>
        <p:nvSpPr>
          <p:cNvPr id="46" name="Google Shape;46;p1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47" name="Google Shape;47;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0"/>
        <p:cNvGrpSpPr/>
        <p:nvPr/>
      </p:nvGrpSpPr>
      <p:grpSpPr>
        <a:xfrm>
          <a:off x="0" y="0"/>
          <a:ext cx="0" cy="0"/>
          <a:chOff x="0" y="0"/>
          <a:chExt cx="0" cy="0"/>
        </a:xfrm>
      </p:grpSpPr>
      <p:sp>
        <p:nvSpPr>
          <p:cNvPr id="51" name="Google Shape;51;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8"/>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53" name="Google Shape;53;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6"/>
        <p:cNvGrpSpPr/>
        <p:nvPr/>
      </p:nvGrpSpPr>
      <p:grpSpPr>
        <a:xfrm>
          <a:off x="0" y="0"/>
          <a:ext cx="0" cy="0"/>
          <a:chOff x="0" y="0"/>
          <a:chExt cx="0" cy="0"/>
        </a:xfrm>
      </p:grpSpPr>
      <p:sp>
        <p:nvSpPr>
          <p:cNvPr id="57" name="Google Shape;57;p1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59" name="Google Shape;59;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7" name="Google Shape;7;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0.jp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
          <p:cNvPicPr preferRelativeResize="0"/>
          <p:nvPr/>
        </p:nvPicPr>
        <p:blipFill rotWithShape="1">
          <a:blip r:embed="rId3"/>
          <a:srcRect/>
          <a:stretch>
            <a:fillRect/>
          </a:stretch>
        </p:blipFill>
        <p:spPr>
          <a:xfrm>
            <a:off x="1" y="0"/>
            <a:ext cx="18288000" cy="10287000"/>
          </a:xfrm>
          <a:prstGeom prst="rect">
            <a:avLst/>
          </a:prstGeom>
          <a:noFill/>
          <a:ln>
            <a:noFill/>
          </a:ln>
        </p:spPr>
      </p:pic>
      <p:sp>
        <p:nvSpPr>
          <p:cNvPr id="67" name="Google Shape;67;p1"/>
          <p:cNvSpPr txBox="1"/>
          <p:nvPr/>
        </p:nvSpPr>
        <p:spPr>
          <a:xfrm>
            <a:off x="1890632" y="1940024"/>
            <a:ext cx="15057205" cy="2954655"/>
          </a:xfrm>
          <a:prstGeom prst="rect">
            <a:avLst/>
          </a:prstGeom>
          <a:noFill/>
          <a:ln>
            <a:noFill/>
          </a:ln>
        </p:spPr>
        <p:txBody>
          <a:bodyPr spcFirstLastPara="1" wrap="square" lIns="0" tIns="0" rIns="0" bIns="0" anchor="t" anchorCtr="0">
            <a:spAutoFit/>
          </a:bodyPr>
          <a:lstStyle/>
          <a:p>
            <a:pPr marL="0" marR="0" lvl="0" indent="0" algn="ctr" rtl="0">
              <a:lnSpc>
                <a:spcPct val="113000"/>
              </a:lnSpc>
              <a:spcBef>
                <a:spcPts val="0"/>
              </a:spcBef>
              <a:spcAft>
                <a:spcPts val="0"/>
              </a:spcAft>
              <a:buClr>
                <a:srgbClr val="000000"/>
              </a:buClr>
              <a:buSzPts val="5000"/>
              <a:buFont typeface="Arial" panose="020B0604020202020204"/>
              <a:buNone/>
            </a:pPr>
            <a:r>
              <a:rPr lang="en-US" sz="5000" b="1" i="0" u="none" strike="noStrike" cap="none">
                <a:solidFill>
                  <a:srgbClr val="000000"/>
                </a:solidFill>
                <a:latin typeface="Century Gothic" panose="020B0502020202020204"/>
                <a:ea typeface="Century Gothic" panose="020B0502020202020204"/>
                <a:cs typeface="Century Gothic" panose="020B0502020202020204"/>
                <a:sym typeface="Century Gothic" panose="020B0502020202020204"/>
              </a:rPr>
              <a:t>Propose Title 1: </a:t>
            </a:r>
          </a:p>
          <a:p>
            <a:pPr marL="0" marR="0" lvl="0" indent="0" algn="ctr" rtl="0">
              <a:lnSpc>
                <a:spcPct val="113000"/>
              </a:lnSpc>
              <a:spcBef>
                <a:spcPts val="0"/>
              </a:spcBef>
              <a:spcAft>
                <a:spcPts val="0"/>
              </a:spcAft>
              <a:buClr>
                <a:srgbClr val="000000"/>
              </a:buClr>
              <a:buSzPts val="5000"/>
              <a:buFont typeface="Arial" panose="020B0604020202020204"/>
              <a:buNone/>
            </a:pPr>
            <a:r>
              <a:rPr lang="en-US" altLang="en-US" sz="4000" b="1" i="0" u="none" strike="noStrike" cap="none">
                <a:solidFill>
                  <a:srgbClr val="000000"/>
                </a:solidFill>
                <a:latin typeface="Century Gothic" panose="020B0502020202020204"/>
                <a:ea typeface="Century Gothic" panose="020B0502020202020204"/>
                <a:cs typeface="Century Gothic" panose="020B0502020202020204"/>
                <a:sym typeface="Century Gothic" panose="020B0502020202020204"/>
              </a:rPr>
              <a:t>EGGPOINT: A LIGHTWEIGHT EDGE-AI SYSTEM FOR THE AUTOMATED CLASSIFICATION AND YIELD SUMMATION OF</a:t>
            </a:r>
          </a:p>
          <a:p>
            <a:pPr marL="0" marR="0" lvl="0" indent="0" algn="ctr" rtl="0">
              <a:lnSpc>
                <a:spcPct val="113000"/>
              </a:lnSpc>
              <a:spcBef>
                <a:spcPts val="0"/>
              </a:spcBef>
              <a:spcAft>
                <a:spcPts val="0"/>
              </a:spcAft>
              <a:buClr>
                <a:srgbClr val="000000"/>
              </a:buClr>
              <a:buSzPts val="5000"/>
              <a:buFont typeface="Arial" panose="020B0604020202020204"/>
              <a:buNone/>
            </a:pPr>
            <a:r>
              <a:rPr lang="en-US" altLang="en-US" sz="4000" b="1" i="0" u="none" strike="noStrike" cap="none">
                <a:solidFill>
                  <a:srgbClr val="000000"/>
                </a:solidFill>
                <a:latin typeface="Century Gothic" panose="020B0502020202020204"/>
                <a:ea typeface="Century Gothic" panose="020B0502020202020204"/>
                <a:cs typeface="Century Gothic" panose="020B0502020202020204"/>
                <a:sym typeface="Century Gothic" panose="020B0502020202020204"/>
              </a:rPr>
              <a:t>MIXED SPECIES POULTRY</a:t>
            </a:r>
          </a:p>
        </p:txBody>
      </p:sp>
      <p:sp>
        <p:nvSpPr>
          <p:cNvPr id="68" name="Google Shape;68;p1"/>
          <p:cNvSpPr txBox="1"/>
          <p:nvPr/>
        </p:nvSpPr>
        <p:spPr>
          <a:xfrm>
            <a:off x="6922770" y="5498465"/>
            <a:ext cx="5441315" cy="375221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0" i="0" u="none" strike="noStrike" cap="none">
                <a:solidFill>
                  <a:srgbClr val="000000"/>
                </a:solidFill>
                <a:latin typeface="Arial" panose="020B0604020202020204"/>
                <a:ea typeface="Arial" panose="020B0604020202020204"/>
                <a:cs typeface="Arial" panose="020B0604020202020204"/>
                <a:sym typeface="Arial" panose="020B0604020202020204"/>
              </a:rPr>
              <a:t>Group No.: 16 - BS CpE 4B</a:t>
            </a:r>
          </a:p>
          <a:p>
            <a:pPr marL="0" marR="0" lvl="0" indent="0" algn="l" rtl="0">
              <a:lnSpc>
                <a:spcPct val="100000"/>
              </a:lnSpc>
              <a:spcBef>
                <a:spcPts val="0"/>
              </a:spcBef>
              <a:spcAft>
                <a:spcPts val="0"/>
              </a:spcAft>
              <a:buNone/>
            </a:pPr>
            <a:r>
              <a:rPr lang="en-US" sz="2800" b="0" i="0" u="none" strike="noStrike" cap="none">
                <a:solidFill>
                  <a:srgbClr val="000000"/>
                </a:solidFill>
                <a:latin typeface="Arial" panose="020B0604020202020204"/>
                <a:ea typeface="Arial" panose="020B0604020202020204"/>
                <a:cs typeface="Arial" panose="020B0604020202020204"/>
                <a:sym typeface="Arial" panose="020B0604020202020204"/>
              </a:rPr>
              <a:t>       </a:t>
            </a:r>
          </a:p>
          <a:p>
            <a:pPr marL="0" marR="0" lvl="0" indent="0" algn="l" rtl="0">
              <a:lnSpc>
                <a:spcPct val="100000"/>
              </a:lnSpc>
              <a:spcBef>
                <a:spcPts val="0"/>
              </a:spcBef>
              <a:spcAft>
                <a:spcPts val="0"/>
              </a:spcAft>
              <a:buNone/>
            </a:pPr>
            <a:r>
              <a:rPr lang="en-US" sz="2800" b="0" i="0" u="none" strike="noStrike" cap="none">
                <a:solidFill>
                  <a:srgbClr val="000000"/>
                </a:solidFill>
                <a:latin typeface="Arial" panose="020B0604020202020204"/>
                <a:ea typeface="Arial" panose="020B0604020202020204"/>
                <a:cs typeface="Arial" panose="020B0604020202020204"/>
                <a:sym typeface="Arial" panose="020B0604020202020204"/>
              </a:rPr>
              <a:t>Group Members:</a:t>
            </a:r>
          </a:p>
          <a:p>
            <a:pPr marL="514350" marR="0" lvl="0" indent="-514350" algn="l" rtl="0">
              <a:lnSpc>
                <a:spcPct val="100000"/>
              </a:lnSpc>
              <a:spcBef>
                <a:spcPts val="0"/>
              </a:spcBef>
              <a:spcAft>
                <a:spcPts val="0"/>
              </a:spcAft>
              <a:buAutoNum type="arabicPeriod"/>
            </a:pPr>
            <a:r>
              <a:rPr lang="en-US" altLang="en-US" sz="2800" b="0" i="0" u="none" strike="noStrike" cap="none">
                <a:solidFill>
                  <a:srgbClr val="000000"/>
                </a:solidFill>
                <a:latin typeface="Arial" panose="020B0604020202020204"/>
                <a:ea typeface="Arial" panose="020B0604020202020204"/>
                <a:cs typeface="Arial" panose="020B0604020202020204"/>
                <a:sym typeface="Arial" panose="020B0604020202020204"/>
              </a:rPr>
              <a:t>Shanice C. Omalsa</a:t>
            </a:r>
          </a:p>
          <a:p>
            <a:pPr marL="514350" marR="0" lvl="0" indent="-514350" algn="l" rtl="0">
              <a:lnSpc>
                <a:spcPct val="100000"/>
              </a:lnSpc>
              <a:spcBef>
                <a:spcPts val="0"/>
              </a:spcBef>
              <a:spcAft>
                <a:spcPts val="0"/>
              </a:spcAft>
              <a:buAutoNum type="arabicPeriod"/>
            </a:pPr>
            <a:r>
              <a:rPr lang="en-US" altLang="en-US" sz="2800" b="0" i="0" u="none" strike="noStrike" cap="none">
                <a:solidFill>
                  <a:srgbClr val="000000"/>
                </a:solidFill>
                <a:latin typeface="Arial" panose="020B0604020202020204"/>
                <a:ea typeface="Arial" panose="020B0604020202020204"/>
                <a:cs typeface="Arial" panose="020B0604020202020204"/>
                <a:sym typeface="Arial" panose="020B0604020202020204"/>
              </a:rPr>
              <a:t>Arjole Jan B. Fostanes</a:t>
            </a:r>
          </a:p>
          <a:p>
            <a:pPr marL="514350" marR="0" lvl="0" indent="-514350" algn="l" rtl="0">
              <a:lnSpc>
                <a:spcPct val="100000"/>
              </a:lnSpc>
              <a:spcBef>
                <a:spcPts val="0"/>
              </a:spcBef>
              <a:spcAft>
                <a:spcPts val="0"/>
              </a:spcAft>
              <a:buAutoNum type="arabicPeriod"/>
            </a:pPr>
            <a:r>
              <a:rPr lang="en-US" altLang="en-US" sz="2800" b="0" i="0" u="none" strike="noStrike" cap="none">
                <a:solidFill>
                  <a:srgbClr val="000000"/>
                </a:solidFill>
                <a:latin typeface="Arial" panose="020B0604020202020204"/>
                <a:ea typeface="Arial" panose="020B0604020202020204"/>
                <a:cs typeface="Arial" panose="020B0604020202020204"/>
                <a:sym typeface="Arial" panose="020B0604020202020204"/>
              </a:rPr>
              <a:t>Jhay Ann B. Remoreras</a:t>
            </a:r>
          </a:p>
          <a:p>
            <a:pPr marL="514350" marR="0" lvl="0" indent="-514350" algn="l" rtl="0">
              <a:lnSpc>
                <a:spcPct val="100000"/>
              </a:lnSpc>
              <a:spcBef>
                <a:spcPts val="0"/>
              </a:spcBef>
              <a:spcAft>
                <a:spcPts val="0"/>
              </a:spcAft>
              <a:buAutoNum type="arabicPeriod"/>
            </a:pPr>
            <a:r>
              <a:rPr lang="en-US" altLang="en-US" sz="2800" b="0" i="0" u="none" strike="noStrike" cap="none">
                <a:solidFill>
                  <a:srgbClr val="000000"/>
                </a:solidFill>
                <a:latin typeface="Arial" panose="020B0604020202020204"/>
                <a:ea typeface="Arial" panose="020B0604020202020204"/>
                <a:cs typeface="Arial" panose="020B0604020202020204"/>
                <a:sym typeface="Arial" panose="020B0604020202020204"/>
              </a:rPr>
              <a:t>James Carl M. Osio</a:t>
            </a:r>
          </a:p>
          <a:p>
            <a:pPr marL="0" marR="0" lvl="0" indent="0" algn="l" rtl="0">
              <a:lnSpc>
                <a:spcPct val="100000"/>
              </a:lnSpc>
              <a:spcBef>
                <a:spcPts val="0"/>
              </a:spcBef>
              <a:spcAft>
                <a:spcPts val="0"/>
              </a:spcAft>
              <a:buNone/>
            </a:pPr>
            <a:endParaRPr sz="2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69" name="Google Shape;69;p1"/>
          <p:cNvPicPr preferRelativeResize="0"/>
          <p:nvPr/>
        </p:nvPicPr>
        <p:blipFill rotWithShape="1">
          <a:blip r:embed="rId4"/>
          <a:srcRect/>
          <a:stretch>
            <a:fillRect/>
          </a:stretch>
        </p:blipFill>
        <p:spPr>
          <a:xfrm>
            <a:off x="2162947" y="305830"/>
            <a:ext cx="1621801" cy="1634181"/>
          </a:xfrm>
          <a:prstGeom prst="rect">
            <a:avLst/>
          </a:prstGeom>
          <a:noFill/>
          <a:ln>
            <a:noFill/>
          </a:ln>
        </p:spPr>
      </p:pic>
      <p:pic>
        <p:nvPicPr>
          <p:cNvPr id="70" name="Google Shape;70;p1"/>
          <p:cNvPicPr preferRelativeResize="0"/>
          <p:nvPr/>
        </p:nvPicPr>
        <p:blipFill rotWithShape="1">
          <a:blip r:embed="rId5"/>
          <a:srcRect/>
          <a:stretch>
            <a:fillRect/>
          </a:stretch>
        </p:blipFill>
        <p:spPr>
          <a:xfrm>
            <a:off x="83372" y="226312"/>
            <a:ext cx="1943100" cy="1924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p:nvPr/>
        </p:nvSpPr>
        <p:spPr>
          <a:xfrm flipH="1">
            <a:off x="-3" y="0"/>
            <a:ext cx="18288002" cy="10286999"/>
          </a:xfrm>
          <a:custGeom>
            <a:avLst/>
            <a:gdLst/>
            <a:ahLst/>
            <a:cxnLst/>
            <a:rect l="l" t="t" r="r" b="b"/>
            <a:pathLst>
              <a:path w="20590706" h="11514063" extrusionOk="0">
                <a:moveTo>
                  <a:pt x="20590706" y="0"/>
                </a:moveTo>
                <a:lnTo>
                  <a:pt x="0" y="0"/>
                </a:lnTo>
                <a:lnTo>
                  <a:pt x="0" y="11514063"/>
                </a:lnTo>
                <a:lnTo>
                  <a:pt x="20590706" y="11514063"/>
                </a:lnTo>
                <a:lnTo>
                  <a:pt x="20590706" y="0"/>
                </a:lnTo>
                <a:close/>
              </a:path>
            </a:pathLst>
          </a:custGeom>
          <a:blipFill rotWithShape="1">
            <a:blip r:embed="rId3"/>
            <a:stretch>
              <a:fillRect t="-589"/>
            </a:stretch>
          </a:blipFill>
          <a:ln>
            <a:noFill/>
          </a:ln>
        </p:spPr>
        <p:txBody>
          <a:bodyPr/>
          <a:lstStyle/>
          <a:p>
            <a:endParaRPr lang="en-PH"/>
          </a:p>
        </p:txBody>
      </p:sp>
      <p:sp>
        <p:nvSpPr>
          <p:cNvPr id="76" name="Google Shape;76;p2"/>
          <p:cNvSpPr txBox="1"/>
          <p:nvPr/>
        </p:nvSpPr>
        <p:spPr>
          <a:xfrm>
            <a:off x="1186922" y="900275"/>
            <a:ext cx="6839477" cy="1097865"/>
          </a:xfrm>
          <a:prstGeom prst="rect">
            <a:avLst/>
          </a:prstGeom>
          <a:noFill/>
          <a:ln>
            <a:noFill/>
          </a:ln>
        </p:spPr>
        <p:txBody>
          <a:bodyPr spcFirstLastPara="1" wrap="square" lIns="0" tIns="0" rIns="0" bIns="0" anchor="t" anchorCtr="0">
            <a:spAutoFit/>
          </a:bodyPr>
          <a:lstStyle/>
          <a:p>
            <a:pPr marL="0" marR="0" lvl="0" indent="0" algn="l" rtl="0">
              <a:lnSpc>
                <a:spcPct val="123000"/>
              </a:lnSpc>
              <a:spcBef>
                <a:spcPts val="0"/>
              </a:spcBef>
              <a:spcAft>
                <a:spcPts val="0"/>
              </a:spcAft>
              <a:buClr>
                <a:srgbClr val="000000"/>
              </a:buClr>
              <a:buSzPts val="5800"/>
              <a:buFont typeface="Arial" panose="020B0604020202020204"/>
              <a:buNone/>
            </a:pPr>
            <a:r>
              <a:rPr lang="en-US" sz="5800" b="1" i="0" u="none" strike="noStrike" cap="none">
                <a:solidFill>
                  <a:srgbClr val="000000"/>
                </a:solidFill>
                <a:latin typeface="Century Gothic" panose="020B0502020202020204"/>
                <a:ea typeface="Century Gothic" panose="020B0502020202020204"/>
                <a:cs typeface="Century Gothic" panose="020B0502020202020204"/>
                <a:sym typeface="Century Gothic" panose="020B0502020202020204"/>
              </a:rPr>
              <a:t>INTRODUCTION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 name="Google Shape;77;p2"/>
          <p:cNvSpPr txBox="1"/>
          <p:nvPr/>
        </p:nvSpPr>
        <p:spPr>
          <a:xfrm>
            <a:off x="819150" y="2246630"/>
            <a:ext cx="16776065" cy="6432550"/>
          </a:xfrm>
          <a:prstGeom prst="rect">
            <a:avLst/>
          </a:prstGeom>
          <a:noFill/>
          <a:ln>
            <a:noFill/>
          </a:ln>
        </p:spPr>
        <p:txBody>
          <a:bodyPr spcFirstLastPara="1" wrap="square" lIns="0" tIns="0" rIns="0" bIns="0" anchor="t" anchorCtr="0">
            <a:spAutoFit/>
          </a:bodyPr>
          <a:lstStyle/>
          <a:p>
            <a:pPr marL="0" marR="0" lvl="0" indent="0" algn="just" rtl="0">
              <a:lnSpc>
                <a:spcPct val="100000"/>
              </a:lnSpc>
              <a:spcBef>
                <a:spcPts val="0"/>
              </a:spcBef>
              <a:spcAft>
                <a:spcPts val="0"/>
              </a:spcAft>
              <a:buNone/>
            </a:pPr>
            <a:r>
              <a:rPr lang="en-US" sz="2200" b="0" i="0" u="none" strike="noStrike" cap="none">
                <a:solidFill>
                  <a:srgbClr val="000000"/>
                </a:solidFill>
                <a:latin typeface="Arial" panose="020B0604020202020204"/>
                <a:ea typeface="Arial" panose="020B0604020202020204"/>
                <a:cs typeface="Arial" panose="020B0604020202020204"/>
                <a:sym typeface="Arial" panose="020B0604020202020204"/>
              </a:rPr>
              <a:t>	</a:t>
            </a:r>
            <a:r>
              <a:rPr lang="en-US" altLang="en-US" sz="2200" b="0" i="0" u="none" strike="noStrike" cap="none">
                <a:solidFill>
                  <a:srgbClr val="000000"/>
                </a:solidFill>
                <a:latin typeface="Arial" panose="020B0604020202020204"/>
                <a:ea typeface="Arial" panose="020B0604020202020204"/>
                <a:cs typeface="Arial" panose="020B0604020202020204"/>
                <a:sym typeface="Arial" panose="020B0604020202020204"/>
              </a:rPr>
              <a:t>The poultry industry is an important contributor to food production and rural livelihoods, with duck and quail farming serving as significant sectors of the egg industry. In the Philippines, duck eggs are widely produced for balut, where eggs incubated for 16 to 18 days are considered the optimal stage for harvesting, while quail production depends on accurate fertility assessment to improve hatchability and breeding efficiency. Both industries commonly employ manual candling, a non-destructive inspection method used to observe embryo development and determine fertility. However, this process is labor-intensive, time-consuming, and highly dependent on the experience of the inspector, often resulting in inconsistent and subjective classifications.</a:t>
            </a:r>
          </a:p>
          <a:p>
            <a:pPr marL="0" marR="0" lvl="0" indent="0" algn="just" rtl="0">
              <a:lnSpc>
                <a:spcPct val="100000"/>
              </a:lnSpc>
              <a:spcBef>
                <a:spcPts val="0"/>
              </a:spcBef>
              <a:spcAft>
                <a:spcPts val="0"/>
              </a:spcAft>
              <a:buNone/>
            </a:pPr>
            <a:endParaRPr lang="en-US" altLang="en-US" sz="2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r>
              <a:rPr lang="en-US" sz="2200" b="0" i="0" u="none" strike="noStrike" cap="none">
                <a:solidFill>
                  <a:srgbClr val="000000"/>
                </a:solidFill>
                <a:latin typeface="Arial" panose="020B0604020202020204"/>
                <a:ea typeface="Arial" panose="020B0604020202020204"/>
                <a:cs typeface="Arial" panose="020B0604020202020204"/>
                <a:sym typeface="Arial" panose="020B0604020202020204"/>
              </a:rPr>
              <a:t>	</a:t>
            </a:r>
            <a:r>
              <a:rPr lang="en-US" altLang="en-US" sz="2200" b="0" i="0" u="none" strike="noStrike" cap="none">
                <a:solidFill>
                  <a:srgbClr val="000000"/>
                </a:solidFill>
                <a:latin typeface="Arial" panose="020B0604020202020204"/>
                <a:ea typeface="Arial" panose="020B0604020202020204"/>
                <a:cs typeface="Arial" panose="020B0604020202020204"/>
                <a:sym typeface="Arial" panose="020B0604020202020204"/>
              </a:rPr>
              <a:t>Recent advances in computer vision and deep learning have demonstrated the potential of automated candling systems for improving egg inspection.  Cai et al. (2025) developed a deep learning-based machine vision system for distinguishing unfertilized, live embryonated, and abnormal eggs, demonstrating the potential of deep learning for accurate and automated duck egg inspection. Similarly, studies on quail eggs have shown that artificial intelligence can effectively analyze egg images for automated inspection. Nakaguchi et al. (2022) utilized deep learning with thermal imaging to perform non-destructive quail egg assessment, while Yildiz et al. (2025) demonstrated that machine learning algorithms can accurately classify quail egg characteristics, highlighting the applicability of artificial intelligence in quail egg production.</a:t>
            </a:r>
          </a:p>
          <a:p>
            <a:pPr marL="0" marR="0" lvl="0" indent="0" algn="just" rtl="0">
              <a:lnSpc>
                <a:spcPct val="100000"/>
              </a:lnSpc>
              <a:spcBef>
                <a:spcPts val="0"/>
              </a:spcBef>
              <a:spcAft>
                <a:spcPts val="0"/>
              </a:spcAft>
              <a:buNone/>
            </a:pPr>
            <a:endParaRPr lang="en-US" altLang="en-US" sz="2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457200" algn="just" rtl="0">
              <a:lnSpc>
                <a:spcPct val="100000"/>
              </a:lnSpc>
              <a:spcBef>
                <a:spcPts val="0"/>
              </a:spcBef>
              <a:spcAft>
                <a:spcPts val="0"/>
              </a:spcAft>
              <a:buNone/>
            </a:pPr>
            <a:r>
              <a:rPr lang="en-US" altLang="en-US" sz="2200" b="0" i="0" u="none" strike="noStrike" cap="none">
                <a:solidFill>
                  <a:srgbClr val="000000"/>
                </a:solidFill>
                <a:latin typeface="Arial" panose="020B0604020202020204"/>
                <a:ea typeface="Arial" panose="020B0604020202020204"/>
                <a:cs typeface="Arial" panose="020B0604020202020204"/>
                <a:sym typeface="Arial" panose="020B0604020202020204"/>
              </a:rPr>
              <a:t>Despite these advancements, existing automated egg inspection systems primarily focus on a single poultry species or a single classification task. Studies involving duck eggs generally concentrate on embryo development or hatching status, whereas research on quail eggs has largely emphasized egg quality and freshness, with limited work on automated fertility detection using candling images.</a:t>
            </a:r>
          </a:p>
          <a:p>
            <a:pPr marL="0" marR="0" lvl="0" indent="0" algn="just" rtl="0">
              <a:lnSpc>
                <a:spcPct val="100000"/>
              </a:lnSpc>
              <a:spcBef>
                <a:spcPts val="0"/>
              </a:spcBef>
              <a:spcAft>
                <a:spcPts val="0"/>
              </a:spcAft>
              <a:buNone/>
            </a:pPr>
            <a:endParaRPr sz="2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78" name="Google Shape;78;p2"/>
          <p:cNvGrpSpPr/>
          <p:nvPr/>
        </p:nvGrpSpPr>
        <p:grpSpPr>
          <a:xfrm>
            <a:off x="818311" y="1735422"/>
            <a:ext cx="8211389" cy="256118"/>
            <a:chOff x="0" y="0"/>
            <a:chExt cx="10948519" cy="341491"/>
          </a:xfrm>
        </p:grpSpPr>
        <p:cxnSp>
          <p:nvCxnSpPr>
            <p:cNvPr id="79" name="Google Shape;79;p2"/>
            <p:cNvCxnSpPr/>
            <p:nvPr/>
          </p:nvCxnSpPr>
          <p:spPr>
            <a:xfrm>
              <a:off x="298669" y="170745"/>
              <a:ext cx="10308358" cy="0"/>
            </a:xfrm>
            <a:prstGeom prst="straightConnector1">
              <a:avLst/>
            </a:prstGeom>
            <a:noFill/>
            <a:ln w="50800" cap="flat" cmpd="sng">
              <a:solidFill>
                <a:srgbClr val="000000"/>
              </a:solidFill>
              <a:prstDash val="solid"/>
              <a:round/>
              <a:headEnd type="none" w="sm" len="sm"/>
              <a:tailEnd type="none" w="sm" len="sm"/>
            </a:ln>
          </p:spPr>
        </p:cxnSp>
        <p:grpSp>
          <p:nvGrpSpPr>
            <p:cNvPr id="80" name="Google Shape;80;p2"/>
            <p:cNvGrpSpPr/>
            <p:nvPr/>
          </p:nvGrpSpPr>
          <p:grpSpPr>
            <a:xfrm>
              <a:off x="10607028" y="0"/>
              <a:ext cx="341491" cy="341491"/>
              <a:chOff x="0" y="0"/>
              <a:chExt cx="812800" cy="812800"/>
            </a:xfrm>
          </p:grpSpPr>
          <p:sp>
            <p:nvSpPr>
              <p:cNvPr id="81" name="Google Shape;81;p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2" name="Google Shape;82;p2"/>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83" name="Google Shape;83;p2"/>
            <p:cNvGrpSpPr/>
            <p:nvPr/>
          </p:nvGrpSpPr>
          <p:grpSpPr>
            <a:xfrm>
              <a:off x="0" y="0"/>
              <a:ext cx="341491" cy="341491"/>
              <a:chOff x="0" y="0"/>
              <a:chExt cx="812800" cy="812800"/>
            </a:xfrm>
          </p:grpSpPr>
          <p:sp>
            <p:nvSpPr>
              <p:cNvPr id="84" name="Google Shape;84;p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5" name="Google Shape;85;p2"/>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pic>
        <p:nvPicPr>
          <p:cNvPr id="86" name="Google Shape;86;p2"/>
          <p:cNvPicPr preferRelativeResize="0"/>
          <p:nvPr/>
        </p:nvPicPr>
        <p:blipFill rotWithShape="1">
          <a:blip r:embed="rId4"/>
          <a:srcRect/>
          <a:stretch>
            <a:fillRect/>
          </a:stretch>
        </p:blipFill>
        <p:spPr>
          <a:xfrm>
            <a:off x="16491334" y="147008"/>
            <a:ext cx="1621801" cy="1634181"/>
          </a:xfrm>
          <a:prstGeom prst="rect">
            <a:avLst/>
          </a:prstGeom>
          <a:noFill/>
          <a:ln>
            <a:noFill/>
          </a:ln>
        </p:spPr>
      </p:pic>
      <p:pic>
        <p:nvPicPr>
          <p:cNvPr id="87" name="Google Shape;87;p2"/>
          <p:cNvPicPr preferRelativeResize="0"/>
          <p:nvPr/>
        </p:nvPicPr>
        <p:blipFill rotWithShape="1">
          <a:blip r:embed="rId5"/>
          <a:srcRect/>
          <a:stretch>
            <a:fillRect/>
          </a:stretch>
        </p:blipFill>
        <p:spPr>
          <a:xfrm>
            <a:off x="14666109" y="147008"/>
            <a:ext cx="1650361" cy="163418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0"/>
          <p:cNvSpPr/>
          <p:nvPr/>
        </p:nvSpPr>
        <p:spPr>
          <a:xfrm flipH="1">
            <a:off x="13748" y="-212074"/>
            <a:ext cx="18274252" cy="10506582"/>
          </a:xfrm>
          <a:custGeom>
            <a:avLst/>
            <a:gdLst/>
            <a:ahLst/>
            <a:cxnLst/>
            <a:rect l="l" t="t" r="r" b="b"/>
            <a:pathLst>
              <a:path w="20590706" h="11514063" extrusionOk="0">
                <a:moveTo>
                  <a:pt x="20590706" y="0"/>
                </a:moveTo>
                <a:lnTo>
                  <a:pt x="0" y="0"/>
                </a:lnTo>
                <a:lnTo>
                  <a:pt x="0" y="11514063"/>
                </a:lnTo>
                <a:lnTo>
                  <a:pt x="20590706" y="11514063"/>
                </a:lnTo>
                <a:lnTo>
                  <a:pt x="20590706" y="0"/>
                </a:lnTo>
                <a:close/>
              </a:path>
            </a:pathLst>
          </a:custGeom>
          <a:blipFill rotWithShape="1">
            <a:blip r:embed="rId3"/>
            <a:stretch>
              <a:fillRect t="-589"/>
            </a:stretch>
          </a:blipFill>
          <a:ln>
            <a:noFill/>
          </a:ln>
        </p:spPr>
        <p:txBody>
          <a:bodyPr/>
          <a:lstStyle/>
          <a:p>
            <a:endParaRPr lang="en-PH"/>
          </a:p>
        </p:txBody>
      </p:sp>
      <p:sp>
        <p:nvSpPr>
          <p:cNvPr id="95" name="Google Shape;95;p20"/>
          <p:cNvSpPr txBox="1"/>
          <p:nvPr/>
        </p:nvSpPr>
        <p:spPr>
          <a:xfrm>
            <a:off x="1186922" y="900275"/>
            <a:ext cx="9557278" cy="1097865"/>
          </a:xfrm>
          <a:prstGeom prst="rect">
            <a:avLst/>
          </a:prstGeom>
          <a:noFill/>
          <a:ln>
            <a:noFill/>
          </a:ln>
        </p:spPr>
        <p:txBody>
          <a:bodyPr spcFirstLastPara="1" wrap="square" lIns="0" tIns="0" rIns="0" bIns="0" anchor="t" anchorCtr="0">
            <a:spAutoFit/>
          </a:bodyPr>
          <a:lstStyle/>
          <a:p>
            <a:pPr marL="0" marR="0" lvl="0" indent="0" algn="l" rtl="0">
              <a:lnSpc>
                <a:spcPct val="123000"/>
              </a:lnSpc>
              <a:spcBef>
                <a:spcPts val="0"/>
              </a:spcBef>
              <a:spcAft>
                <a:spcPts val="0"/>
              </a:spcAft>
              <a:buClr>
                <a:srgbClr val="000000"/>
              </a:buClr>
              <a:buSzPts val="5800"/>
              <a:buFont typeface="Arial" panose="020B0604020202020204"/>
              <a:buNone/>
            </a:pPr>
            <a:r>
              <a:rPr lang="en-US" sz="5800" b="1" i="0" u="none" strike="noStrike" cap="none">
                <a:solidFill>
                  <a:srgbClr val="000000"/>
                </a:solidFill>
                <a:latin typeface="Century Gothic" panose="020B0502020202020204"/>
                <a:ea typeface="Century Gothic" panose="020B0502020202020204"/>
                <a:cs typeface="Century Gothic" panose="020B0502020202020204"/>
                <a:sym typeface="Century Gothic" panose="020B0502020202020204"/>
              </a:rPr>
              <a:t>DIFFERENTIATION/ GAPS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96" name="Google Shape;96;p20"/>
          <p:cNvGrpSpPr/>
          <p:nvPr/>
        </p:nvGrpSpPr>
        <p:grpSpPr>
          <a:xfrm>
            <a:off x="818311" y="1713197"/>
            <a:ext cx="9029269" cy="278343"/>
            <a:chOff x="0" y="-29633"/>
            <a:chExt cx="12039026" cy="371124"/>
          </a:xfrm>
        </p:grpSpPr>
        <p:cxnSp>
          <p:nvCxnSpPr>
            <p:cNvPr id="97" name="Google Shape;97;p20"/>
            <p:cNvCxnSpPr/>
            <p:nvPr/>
          </p:nvCxnSpPr>
          <p:spPr>
            <a:xfrm flipV="1">
              <a:off x="298669" y="152965"/>
              <a:ext cx="11558694" cy="17780"/>
            </a:xfrm>
            <a:prstGeom prst="straightConnector1">
              <a:avLst/>
            </a:prstGeom>
            <a:noFill/>
            <a:ln w="50800" cap="flat" cmpd="sng">
              <a:solidFill>
                <a:srgbClr val="000000"/>
              </a:solidFill>
              <a:prstDash val="solid"/>
              <a:round/>
              <a:headEnd type="none" w="sm" len="sm"/>
              <a:tailEnd type="none" w="sm" len="sm"/>
            </a:ln>
          </p:spPr>
        </p:cxnSp>
        <p:grpSp>
          <p:nvGrpSpPr>
            <p:cNvPr id="98" name="Google Shape;98;p20"/>
            <p:cNvGrpSpPr/>
            <p:nvPr/>
          </p:nvGrpSpPr>
          <p:grpSpPr>
            <a:xfrm>
              <a:off x="11668589" y="-29633"/>
              <a:ext cx="370436" cy="341491"/>
              <a:chOff x="2526676" y="-70532"/>
              <a:chExt cx="881694" cy="812800"/>
            </a:xfrm>
          </p:grpSpPr>
          <p:sp>
            <p:nvSpPr>
              <p:cNvPr id="99" name="Google Shape;99;p20"/>
              <p:cNvSpPr/>
              <p:nvPr/>
            </p:nvSpPr>
            <p:spPr>
              <a:xfrm>
                <a:off x="2595570" y="-70532"/>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0" name="Google Shape;100;p20"/>
              <p:cNvSpPr txBox="1"/>
              <p:nvPr/>
            </p:nvSpPr>
            <p:spPr>
              <a:xfrm>
                <a:off x="2526676"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101" name="Google Shape;101;p20"/>
            <p:cNvGrpSpPr/>
            <p:nvPr/>
          </p:nvGrpSpPr>
          <p:grpSpPr>
            <a:xfrm>
              <a:off x="0" y="0"/>
              <a:ext cx="341491" cy="341491"/>
              <a:chOff x="0" y="0"/>
              <a:chExt cx="812800" cy="812800"/>
            </a:xfrm>
          </p:grpSpPr>
          <p:sp>
            <p:nvSpPr>
              <p:cNvPr id="102" name="Google Shape;102;p2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3" name="Google Shape;103;p20"/>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sp>
        <p:nvSpPr>
          <p:cNvPr id="104" name="Google Shape;104;p20"/>
          <p:cNvSpPr/>
          <p:nvPr/>
        </p:nvSpPr>
        <p:spPr>
          <a:xfrm>
            <a:off x="842323" y="1991540"/>
            <a:ext cx="7298100" cy="3371100"/>
          </a:xfrm>
          <a:prstGeom prst="roundRect">
            <a:avLst>
              <a:gd name="adj" fmla="val 16667"/>
            </a:avLst>
          </a:prstGeom>
          <a:no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a:solidFill>
                  <a:schemeClr val="dk1"/>
                </a:solidFill>
                <a:latin typeface="Arial" panose="020B0604020202020204"/>
                <a:ea typeface="Arial" panose="020B0604020202020204"/>
                <a:cs typeface="Arial" panose="020B0604020202020204"/>
                <a:sym typeface="Arial" panose="020B0604020202020204"/>
              </a:rPr>
              <a:t>NEEDS</a:t>
            </a:r>
          </a:p>
          <a:p>
            <a:pPr marL="0" marR="0" lvl="0" indent="-101600" algn="l" rtl="0">
              <a:lnSpc>
                <a:spcPct val="100000"/>
              </a:lnSpc>
              <a:spcBef>
                <a:spcPts val="0"/>
              </a:spcBef>
              <a:spcAft>
                <a:spcPts val="0"/>
              </a:spcAft>
              <a:buClr>
                <a:srgbClr val="000000"/>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a:t>
            </a:r>
            <a:r>
              <a:rPr lang="en-US" alt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Reduce manual inspection</a:t>
            </a:r>
            <a:r>
              <a:rPr lang="en-US" alt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Minimize dependence on visual judgment during egg candling.</a:t>
            </a:r>
          </a:p>
          <a:p>
            <a:pPr marL="0" marR="0" lvl="0" indent="-101600" algn="l" rtl="0">
              <a:lnSpc>
                <a:spcPct val="100000"/>
              </a:lnSpc>
              <a:spcBef>
                <a:spcPts val="0"/>
              </a:spcBef>
              <a:spcAft>
                <a:spcPts val="0"/>
              </a:spcAft>
              <a:buClr>
                <a:srgbClr val="000000"/>
              </a:buClr>
              <a:buSzPts val="1600"/>
              <a:buFont typeface="Arial" panose="020B0604020202020204"/>
              <a:buChar char="•"/>
            </a:pPr>
            <a:r>
              <a:rPr lang="en-US" alt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Improve classification:</a:t>
            </a:r>
            <a:r>
              <a:rPr lang="en-US" alt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Accurately identify duck incubation stages and quail egg fertility.</a:t>
            </a:r>
          </a:p>
          <a:p>
            <a:pPr marL="0" marR="0" lvl="0" indent="-101600" algn="l" rtl="0">
              <a:lnSpc>
                <a:spcPct val="100000"/>
              </a:lnSpc>
              <a:spcBef>
                <a:spcPts val="0"/>
              </a:spcBef>
              <a:spcAft>
                <a:spcPts val="0"/>
              </a:spcAft>
              <a:buClr>
                <a:srgbClr val="000000"/>
              </a:buClr>
              <a:buSzPts val="1600"/>
              <a:buFont typeface="Arial" panose="020B0604020202020204"/>
              <a:buChar char="•"/>
            </a:pPr>
            <a:r>
              <a:rPr lang="en-US" alt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Enable offline operation:</a:t>
            </a:r>
            <a:r>
              <a:rPr lang="en-US" alt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Reduce reliance on internet connectivity and external computing resources.</a:t>
            </a:r>
          </a:p>
          <a:p>
            <a:pPr marL="0" marR="0" lvl="0" indent="-101600" algn="l" rtl="0">
              <a:lnSpc>
                <a:spcPct val="100000"/>
              </a:lnSpc>
              <a:spcBef>
                <a:spcPts val="0"/>
              </a:spcBef>
              <a:spcAft>
                <a:spcPts val="0"/>
              </a:spcAft>
              <a:buClr>
                <a:srgbClr val="000000"/>
              </a:buClr>
              <a:buSzPts val="1600"/>
              <a:buFont typeface="Arial" panose="020B0604020202020204"/>
              <a:buChar char="•"/>
            </a:pPr>
            <a:r>
              <a:rPr lang="en-US" alt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Simplify monitoring: </a:t>
            </a:r>
            <a:r>
              <a:rPr lang="en-US" alt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Automatically record and summarize egg classification results.</a:t>
            </a:r>
          </a:p>
        </p:txBody>
      </p:sp>
      <p:sp>
        <p:nvSpPr>
          <p:cNvPr id="105" name="Google Shape;105;p20"/>
          <p:cNvSpPr/>
          <p:nvPr/>
        </p:nvSpPr>
        <p:spPr>
          <a:xfrm>
            <a:off x="8728635" y="2132797"/>
            <a:ext cx="6977400" cy="2876100"/>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a:solidFill>
                  <a:schemeClr val="dk1"/>
                </a:solidFill>
                <a:latin typeface="Arial" panose="020B0604020202020204"/>
                <a:ea typeface="Arial" panose="020B0604020202020204"/>
                <a:cs typeface="Arial" panose="020B0604020202020204"/>
                <a:sym typeface="Arial" panose="020B0604020202020204"/>
              </a:rPr>
              <a:t>SOLUTIONS</a:t>
            </a:r>
          </a:p>
          <a:p>
            <a:pPr marL="0" marR="0" lvl="0" indent="-101600" algn="l" rtl="0">
              <a:lnSpc>
                <a:spcPct val="100000"/>
              </a:lnSpc>
              <a:spcBef>
                <a:spcPts val="0"/>
              </a:spcBef>
              <a:spcAft>
                <a:spcPts val="0"/>
              </a:spcAft>
              <a:buClr>
                <a:srgbClr val="000000"/>
              </a:buClr>
              <a:buSzPts val="1600"/>
              <a:buFont typeface="Arial" panose="020B0604020202020204"/>
              <a:buChar char="•"/>
            </a:pPr>
            <a:r>
              <a:rPr lang="en-US" alt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Automated Candling:</a:t>
            </a:r>
            <a:r>
              <a:rPr lang="en-US" alt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Uses a camera and controlled lighting to capture candled egg images.</a:t>
            </a:r>
          </a:p>
          <a:p>
            <a:pPr marL="0" marR="0" lvl="0" indent="-101600" algn="l" rtl="0">
              <a:lnSpc>
                <a:spcPct val="100000"/>
              </a:lnSpc>
              <a:spcBef>
                <a:spcPts val="0"/>
              </a:spcBef>
              <a:spcAft>
                <a:spcPts val="0"/>
              </a:spcAft>
              <a:buClr>
                <a:srgbClr val="000000"/>
              </a:buClr>
              <a:buSzPts val="1600"/>
              <a:buFont typeface="Arial" panose="020B0604020202020204"/>
              <a:buChar char="•"/>
            </a:pPr>
            <a:r>
              <a:rPr lang="en-US" alt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Deep-Learning Classification:</a:t>
            </a:r>
            <a:r>
              <a:rPr lang="en-US" alt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Classifies duck eggs by incubation stage and quail eggs by fertility.</a:t>
            </a:r>
          </a:p>
          <a:p>
            <a:pPr marL="0" marR="0" lvl="0" indent="-101600" algn="l" rtl="0">
              <a:lnSpc>
                <a:spcPct val="100000"/>
              </a:lnSpc>
              <a:spcBef>
                <a:spcPts val="0"/>
              </a:spcBef>
              <a:spcAft>
                <a:spcPts val="0"/>
              </a:spcAft>
              <a:buClr>
                <a:srgbClr val="000000"/>
              </a:buClr>
              <a:buSzPts val="1600"/>
              <a:buFont typeface="Arial" panose="020B0604020202020204"/>
              <a:buChar char="•"/>
            </a:pPr>
            <a:r>
              <a:rPr lang="en-US" alt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Edge-AI Processing:</a:t>
            </a:r>
            <a:r>
              <a:rPr lang="en-US" alt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Performs image processing and classification locally using a Raspberry Pi.</a:t>
            </a:r>
          </a:p>
          <a:p>
            <a:pPr marL="0" marR="0" lvl="0" indent="-101600" algn="l" rtl="0">
              <a:lnSpc>
                <a:spcPct val="100000"/>
              </a:lnSpc>
              <a:spcBef>
                <a:spcPts val="0"/>
              </a:spcBef>
              <a:spcAft>
                <a:spcPts val="0"/>
              </a:spcAft>
              <a:buClr>
                <a:srgbClr val="000000"/>
              </a:buClr>
              <a:buSzPts val="1600"/>
              <a:buFont typeface="Arial" panose="020B0604020202020204"/>
              <a:buChar char="•"/>
            </a:pPr>
            <a:r>
              <a:rPr lang="en-US" alt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Yield Summation: </a:t>
            </a:r>
            <a:r>
              <a:rPr lang="en-US" alt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Automatically records classification results and generates production summaries.</a:t>
            </a:r>
          </a:p>
        </p:txBody>
      </p:sp>
      <p:sp>
        <p:nvSpPr>
          <p:cNvPr id="106" name="Google Shape;106;p20"/>
          <p:cNvSpPr/>
          <p:nvPr/>
        </p:nvSpPr>
        <p:spPr>
          <a:xfrm>
            <a:off x="660706" y="3364606"/>
            <a:ext cx="7837500" cy="6560100"/>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a:solidFill>
                  <a:schemeClr val="dk1"/>
                </a:solidFill>
                <a:latin typeface="Arial" panose="020B0604020202020204"/>
                <a:ea typeface="Arial" panose="020B0604020202020204"/>
                <a:cs typeface="Arial" panose="020B0604020202020204"/>
                <a:sym typeface="Arial" panose="020B0604020202020204"/>
              </a:rPr>
              <a:t>DIFFERENTIATION</a:t>
            </a:r>
          </a:p>
          <a:p>
            <a:pPr marL="0" marR="0" lvl="0" indent="-101600" algn="l" rtl="0">
              <a:lnSpc>
                <a:spcPct val="100000"/>
              </a:lnSpc>
              <a:spcBef>
                <a:spcPts val="0"/>
              </a:spcBef>
              <a:spcAft>
                <a:spcPts val="0"/>
              </a:spcAft>
              <a:buClr>
                <a:srgbClr val="000000"/>
              </a:buClr>
              <a:buSzPts val="1600"/>
              <a:buFont typeface="Arial" panose="020B0604020202020204"/>
              <a:buChar char="•"/>
            </a:pPr>
            <a:r>
              <a:rPr lang="en-US" alt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Mixed-Species</a:t>
            </a:r>
            <a:r>
              <a:rPr lang="en-US" alt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Combines duck and quail egg inspection in one system.</a:t>
            </a:r>
          </a:p>
          <a:p>
            <a:pPr marL="0" marR="0" lvl="0" indent="-101600" algn="l" rtl="0">
              <a:lnSpc>
                <a:spcPct val="100000"/>
              </a:lnSpc>
              <a:spcBef>
                <a:spcPts val="0"/>
              </a:spcBef>
              <a:spcAft>
                <a:spcPts val="0"/>
              </a:spcAft>
              <a:buClr>
                <a:srgbClr val="000000"/>
              </a:buClr>
              <a:buSzPts val="1600"/>
              <a:buFont typeface="Arial" panose="020B0604020202020204"/>
              <a:buChar char="•"/>
            </a:pPr>
            <a:r>
              <a:rPr lang="en-US" alt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Multi-Task Classification:</a:t>
            </a:r>
            <a:r>
              <a:rPr lang="en-US" alt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Identifies duck incubation stages and quail egg fertility.</a:t>
            </a:r>
          </a:p>
          <a:p>
            <a:pPr marL="0" marR="0" lvl="0" indent="-101600" algn="l" rtl="0">
              <a:lnSpc>
                <a:spcPct val="100000"/>
              </a:lnSpc>
              <a:spcBef>
                <a:spcPts val="0"/>
              </a:spcBef>
              <a:spcAft>
                <a:spcPts val="0"/>
              </a:spcAft>
              <a:buClr>
                <a:srgbClr val="000000"/>
              </a:buClr>
              <a:buSzPts val="1600"/>
              <a:buFont typeface="Arial" panose="020B0604020202020204"/>
              <a:buChar char="•"/>
            </a:pPr>
            <a:r>
              <a:rPr lang="en-US" alt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Offline-Capable:</a:t>
            </a:r>
            <a:r>
              <a:rPr lang="en-US" alt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Performs processing locally without depending on cloud services.</a:t>
            </a:r>
          </a:p>
          <a:p>
            <a:pPr marL="0" marR="0" lvl="0" indent="-101600" algn="l" rtl="0">
              <a:lnSpc>
                <a:spcPct val="100000"/>
              </a:lnSpc>
              <a:spcBef>
                <a:spcPts val="0"/>
              </a:spcBef>
              <a:spcAft>
                <a:spcPts val="0"/>
              </a:spcAft>
              <a:buClr>
                <a:srgbClr val="000000"/>
              </a:buClr>
              <a:buSzPts val="1600"/>
              <a:buFont typeface="Arial" panose="020B0604020202020204"/>
              <a:buChar char="•"/>
            </a:pPr>
            <a:r>
              <a:rPr lang="en-US" alt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Lightweight Platform: </a:t>
            </a:r>
            <a:r>
              <a:rPr lang="en-US" alt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Uses a Raspberry Pi for affordable and portable deployment.</a:t>
            </a:r>
          </a:p>
          <a:p>
            <a:pPr marL="0" marR="0" lvl="0" indent="-101600" algn="l" rtl="0">
              <a:lnSpc>
                <a:spcPct val="100000"/>
              </a:lnSpc>
              <a:spcBef>
                <a:spcPts val="0"/>
              </a:spcBef>
              <a:spcAft>
                <a:spcPts val="0"/>
              </a:spcAft>
              <a:buClr>
                <a:srgbClr val="000000"/>
              </a:buClr>
              <a:buSzPts val="1600"/>
              <a:buFont typeface="Arial" panose="020B0604020202020204"/>
              <a:buChar char="•"/>
            </a:pPr>
            <a:r>
              <a:rPr lang="en-US" alt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I</a:t>
            </a:r>
            <a:r>
              <a:rPr lang="en-US" alt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ntegrated Monitoring:</a:t>
            </a:r>
            <a:r>
              <a:rPr lang="en-US" alt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Combines egg classification with automated yield recording and summarization.</a:t>
            </a:r>
          </a:p>
        </p:txBody>
      </p:sp>
      <p:sp>
        <p:nvSpPr>
          <p:cNvPr id="107" name="Google Shape;107;p20"/>
          <p:cNvSpPr/>
          <p:nvPr/>
        </p:nvSpPr>
        <p:spPr>
          <a:xfrm>
            <a:off x="8498908" y="3915593"/>
            <a:ext cx="6860400" cy="6009000"/>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a:solidFill>
                  <a:schemeClr val="dk1"/>
                </a:solidFill>
                <a:latin typeface="Arial" panose="020B0604020202020204"/>
                <a:ea typeface="Arial" panose="020B0604020202020204"/>
                <a:cs typeface="Arial" panose="020B0604020202020204"/>
                <a:sym typeface="Arial" panose="020B0604020202020204"/>
              </a:rPr>
              <a:t>IMPACT</a:t>
            </a:r>
          </a:p>
          <a:p>
            <a:pPr marL="0" marR="0" lvl="0" indent="-101600" algn="l" rtl="0">
              <a:lnSpc>
                <a:spcPct val="100000"/>
              </a:lnSpc>
              <a:spcBef>
                <a:spcPts val="0"/>
              </a:spcBef>
              <a:spcAft>
                <a:spcPts val="0"/>
              </a:spcAft>
              <a:buClr>
                <a:srgbClr val="000000"/>
              </a:buClr>
              <a:buSzPts val="1600"/>
              <a:buFont typeface="Arial" panose="020B0604020202020204"/>
              <a:buChar char="•"/>
            </a:pPr>
            <a:r>
              <a:rPr lang="en-US" alt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Reduced Workload:</a:t>
            </a:r>
            <a:r>
              <a:rPr lang="en-US" alt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Minimizes repetitive manual inspection and counting.</a:t>
            </a:r>
          </a:p>
          <a:p>
            <a:pPr marL="0" marR="0" lvl="0" indent="-101600" algn="l" rtl="0">
              <a:lnSpc>
                <a:spcPct val="100000"/>
              </a:lnSpc>
              <a:spcBef>
                <a:spcPts val="0"/>
              </a:spcBef>
              <a:spcAft>
                <a:spcPts val="0"/>
              </a:spcAft>
              <a:buClr>
                <a:srgbClr val="000000"/>
              </a:buClr>
              <a:buSzPts val="1600"/>
              <a:buFont typeface="Arial" panose="020B0604020202020204"/>
              <a:buChar char="•"/>
            </a:pPr>
            <a:r>
              <a:rPr lang="en-US" alt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Consistent Classification:</a:t>
            </a:r>
            <a:r>
              <a:rPr lang="en-US" alt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Provides standardized image-based egg assessment.</a:t>
            </a:r>
          </a:p>
          <a:p>
            <a:pPr marL="0" marR="0" lvl="0" indent="-101600" algn="l" rtl="0">
              <a:lnSpc>
                <a:spcPct val="100000"/>
              </a:lnSpc>
              <a:spcBef>
                <a:spcPts val="0"/>
              </a:spcBef>
              <a:spcAft>
                <a:spcPts val="0"/>
              </a:spcAft>
              <a:buClr>
                <a:srgbClr val="000000"/>
              </a:buClr>
              <a:buSzPts val="1600"/>
              <a:buFont typeface="Arial" panose="020B0604020202020204"/>
              <a:buChar char="•"/>
            </a:pPr>
            <a:r>
              <a:rPr lang="en-US" alt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Portable Inspection:</a:t>
            </a:r>
            <a:r>
              <a:rPr lang="en-US" alt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Supports egg assessment using a compact embedded platform.</a:t>
            </a:r>
          </a:p>
          <a:p>
            <a:pPr marL="0" marR="0" lvl="0" indent="-101600" algn="l" rtl="0">
              <a:lnSpc>
                <a:spcPct val="100000"/>
              </a:lnSpc>
              <a:spcBef>
                <a:spcPts val="0"/>
              </a:spcBef>
              <a:spcAft>
                <a:spcPts val="0"/>
              </a:spcAft>
              <a:buClr>
                <a:srgbClr val="000000"/>
              </a:buClr>
              <a:buSzPts val="1600"/>
              <a:buFont typeface="Arial" panose="020B0604020202020204"/>
              <a:buChar char="•"/>
            </a:pPr>
            <a:r>
              <a:rPr lang="en-US" alt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I</a:t>
            </a:r>
            <a:r>
              <a:rPr lang="en-US" alt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mproved Monitoring:</a:t>
            </a:r>
            <a:r>
              <a:rPr lang="en-US" alt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Provides organized classification records and production summaries.</a:t>
            </a:r>
          </a:p>
          <a:p>
            <a:pPr marL="0" marR="0" lvl="0" indent="-101600" algn="l" rtl="0">
              <a:lnSpc>
                <a:spcPct val="100000"/>
              </a:lnSpc>
              <a:spcBef>
                <a:spcPts val="0"/>
              </a:spcBef>
              <a:spcAft>
                <a:spcPts val="0"/>
              </a:spcAft>
              <a:buClr>
                <a:srgbClr val="000000"/>
              </a:buClr>
              <a:buSzPts val="1600"/>
              <a:buFont typeface="Arial" panose="020B0604020202020204"/>
              <a:buChar char="•"/>
            </a:pPr>
            <a:r>
              <a:rPr lang="en-US" alt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Practical Application:</a:t>
            </a:r>
            <a:r>
              <a:rPr lang="en-US" alt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Supports poultry and balut producers in monitoring egg production.</a:t>
            </a:r>
          </a:p>
          <a:p>
            <a:pPr marL="0" marR="0" lvl="0" indent="0" algn="ctr" rtl="0">
              <a:lnSpc>
                <a:spcPct val="100000"/>
              </a:lnSpc>
              <a:spcBef>
                <a:spcPts val="0"/>
              </a:spcBef>
              <a:spcAft>
                <a:spcPts val="0"/>
              </a:spcAft>
              <a:buNone/>
            </a:pPr>
            <a:endParaRPr sz="2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cxnSp>
        <p:nvCxnSpPr>
          <p:cNvPr id="108" name="Google Shape;108;p20"/>
          <p:cNvCxnSpPr/>
          <p:nvPr/>
        </p:nvCxnSpPr>
        <p:spPr>
          <a:xfrm>
            <a:off x="8267700" y="2730500"/>
            <a:ext cx="0" cy="5130900"/>
          </a:xfrm>
          <a:prstGeom prst="straightConnector1">
            <a:avLst/>
          </a:prstGeom>
          <a:noFill/>
          <a:ln w="57150" cap="flat" cmpd="sng">
            <a:solidFill>
              <a:srgbClr val="4A7DBA"/>
            </a:solidFill>
            <a:prstDash val="solid"/>
            <a:round/>
            <a:headEnd type="none" w="sm" len="sm"/>
            <a:tailEnd type="none" w="sm" len="sm"/>
          </a:ln>
        </p:spPr>
      </p:cxnSp>
      <p:cxnSp>
        <p:nvCxnSpPr>
          <p:cNvPr id="109" name="Google Shape;109;p20"/>
          <p:cNvCxnSpPr/>
          <p:nvPr/>
        </p:nvCxnSpPr>
        <p:spPr>
          <a:xfrm>
            <a:off x="946370" y="5143500"/>
            <a:ext cx="14001600" cy="0"/>
          </a:xfrm>
          <a:prstGeom prst="straightConnector1">
            <a:avLst/>
          </a:prstGeom>
          <a:noFill/>
          <a:ln w="57150" cap="flat" cmpd="sng">
            <a:solidFill>
              <a:srgbClr val="4A7DBA"/>
            </a:solidFill>
            <a:prstDash val="solid"/>
            <a:round/>
            <a:headEnd type="none" w="sm" len="sm"/>
            <a:tailEnd type="none" w="sm" len="sm"/>
          </a:ln>
        </p:spPr>
      </p:cxnSp>
      <p:pic>
        <p:nvPicPr>
          <p:cNvPr id="110" name="Google Shape;110;p20"/>
          <p:cNvPicPr preferRelativeResize="0"/>
          <p:nvPr/>
        </p:nvPicPr>
        <p:blipFill rotWithShape="1">
          <a:blip r:embed="rId4"/>
          <a:srcRect/>
          <a:stretch>
            <a:fillRect/>
          </a:stretch>
        </p:blipFill>
        <p:spPr>
          <a:xfrm>
            <a:off x="14666109" y="147008"/>
            <a:ext cx="1650361" cy="1634181"/>
          </a:xfrm>
          <a:prstGeom prst="rect">
            <a:avLst/>
          </a:prstGeom>
          <a:noFill/>
          <a:ln>
            <a:noFill/>
          </a:ln>
        </p:spPr>
      </p:pic>
      <p:pic>
        <p:nvPicPr>
          <p:cNvPr id="111" name="Google Shape;111;p20"/>
          <p:cNvPicPr preferRelativeResize="0"/>
          <p:nvPr/>
        </p:nvPicPr>
        <p:blipFill rotWithShape="1">
          <a:blip r:embed="rId5"/>
          <a:srcRect/>
          <a:stretch>
            <a:fillRect/>
          </a:stretch>
        </p:blipFill>
        <p:spPr>
          <a:xfrm>
            <a:off x="16491334" y="147008"/>
            <a:ext cx="1621801" cy="163418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1"/>
          <p:cNvSpPr/>
          <p:nvPr/>
        </p:nvSpPr>
        <p:spPr>
          <a:xfrm flipH="1">
            <a:off x="13748" y="-147000"/>
            <a:ext cx="18274252" cy="10564153"/>
          </a:xfrm>
          <a:custGeom>
            <a:avLst/>
            <a:gdLst/>
            <a:ahLst/>
            <a:cxnLst/>
            <a:rect l="l" t="t" r="r" b="b"/>
            <a:pathLst>
              <a:path w="20590706" h="11514063" extrusionOk="0">
                <a:moveTo>
                  <a:pt x="20590706" y="0"/>
                </a:moveTo>
                <a:lnTo>
                  <a:pt x="0" y="0"/>
                </a:lnTo>
                <a:lnTo>
                  <a:pt x="0" y="11514063"/>
                </a:lnTo>
                <a:lnTo>
                  <a:pt x="20590706" y="11514063"/>
                </a:lnTo>
                <a:lnTo>
                  <a:pt x="20590706" y="0"/>
                </a:lnTo>
                <a:close/>
              </a:path>
            </a:pathLst>
          </a:custGeom>
          <a:blipFill rotWithShape="1">
            <a:blip r:embed="rId3"/>
            <a:stretch>
              <a:fillRect t="-589"/>
            </a:stretch>
          </a:blipFill>
          <a:ln>
            <a:noFill/>
          </a:ln>
        </p:spPr>
        <p:txBody>
          <a:bodyPr/>
          <a:lstStyle/>
          <a:p>
            <a:endParaRPr lang="en-PH"/>
          </a:p>
        </p:txBody>
      </p:sp>
      <p:sp>
        <p:nvSpPr>
          <p:cNvPr id="117" name="Google Shape;117;p21"/>
          <p:cNvSpPr txBox="1"/>
          <p:nvPr/>
        </p:nvSpPr>
        <p:spPr>
          <a:xfrm>
            <a:off x="1098440" y="637557"/>
            <a:ext cx="9557278" cy="1097865"/>
          </a:xfrm>
          <a:prstGeom prst="rect">
            <a:avLst/>
          </a:prstGeom>
          <a:noFill/>
          <a:ln>
            <a:noFill/>
          </a:ln>
        </p:spPr>
        <p:txBody>
          <a:bodyPr spcFirstLastPara="1" wrap="square" lIns="0" tIns="0" rIns="0" bIns="0" anchor="t" anchorCtr="0">
            <a:spAutoFit/>
          </a:bodyPr>
          <a:lstStyle/>
          <a:p>
            <a:pPr marL="0" marR="0" lvl="0" indent="0" algn="l" rtl="0">
              <a:lnSpc>
                <a:spcPct val="123000"/>
              </a:lnSpc>
              <a:spcBef>
                <a:spcPts val="0"/>
              </a:spcBef>
              <a:spcAft>
                <a:spcPts val="0"/>
              </a:spcAft>
              <a:buClr>
                <a:srgbClr val="000000"/>
              </a:buClr>
              <a:buSzPts val="5800"/>
              <a:buFont typeface="Arial" panose="020B0604020202020204"/>
              <a:buNone/>
            </a:pPr>
            <a:r>
              <a:rPr lang="en-US" sz="5800" b="1" i="0" u="none" strike="noStrike" cap="none">
                <a:solidFill>
                  <a:srgbClr val="000000"/>
                </a:solidFill>
                <a:latin typeface="Century Gothic" panose="020B0502020202020204"/>
                <a:ea typeface="Century Gothic" panose="020B0502020202020204"/>
                <a:cs typeface="Century Gothic" panose="020B0502020202020204"/>
                <a:sym typeface="Century Gothic" panose="020B0502020202020204"/>
              </a:rPr>
              <a:t>DIFFERENTIATION TABLE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18" name="Google Shape;118;p21"/>
          <p:cNvGrpSpPr/>
          <p:nvPr/>
        </p:nvGrpSpPr>
        <p:grpSpPr>
          <a:xfrm>
            <a:off x="923575" y="1479304"/>
            <a:ext cx="8211389" cy="256118"/>
            <a:chOff x="0" y="0"/>
            <a:chExt cx="10948519" cy="341491"/>
          </a:xfrm>
        </p:grpSpPr>
        <p:cxnSp>
          <p:nvCxnSpPr>
            <p:cNvPr id="119" name="Google Shape;119;p21"/>
            <p:cNvCxnSpPr/>
            <p:nvPr/>
          </p:nvCxnSpPr>
          <p:spPr>
            <a:xfrm>
              <a:off x="298669" y="170745"/>
              <a:ext cx="10308358" cy="0"/>
            </a:xfrm>
            <a:prstGeom prst="straightConnector1">
              <a:avLst/>
            </a:prstGeom>
            <a:noFill/>
            <a:ln w="50800" cap="flat" cmpd="sng">
              <a:solidFill>
                <a:srgbClr val="000000"/>
              </a:solidFill>
              <a:prstDash val="solid"/>
              <a:round/>
              <a:headEnd type="none" w="sm" len="sm"/>
              <a:tailEnd type="none" w="sm" len="sm"/>
            </a:ln>
          </p:spPr>
        </p:cxnSp>
        <p:grpSp>
          <p:nvGrpSpPr>
            <p:cNvPr id="120" name="Google Shape;120;p21"/>
            <p:cNvGrpSpPr/>
            <p:nvPr/>
          </p:nvGrpSpPr>
          <p:grpSpPr>
            <a:xfrm>
              <a:off x="10607028" y="0"/>
              <a:ext cx="341491" cy="341491"/>
              <a:chOff x="0" y="0"/>
              <a:chExt cx="812800" cy="812800"/>
            </a:xfrm>
          </p:grpSpPr>
          <p:sp>
            <p:nvSpPr>
              <p:cNvPr id="121" name="Google Shape;121;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2" name="Google Shape;122;p21"/>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123" name="Google Shape;123;p21"/>
            <p:cNvGrpSpPr/>
            <p:nvPr/>
          </p:nvGrpSpPr>
          <p:grpSpPr>
            <a:xfrm>
              <a:off x="0" y="0"/>
              <a:ext cx="341491" cy="341491"/>
              <a:chOff x="0" y="0"/>
              <a:chExt cx="812800" cy="812800"/>
            </a:xfrm>
          </p:grpSpPr>
          <p:sp>
            <p:nvSpPr>
              <p:cNvPr id="124" name="Google Shape;124;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5" name="Google Shape;125;p21"/>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graphicFrame>
        <p:nvGraphicFramePr>
          <p:cNvPr id="126" name="Google Shape;126;p21"/>
          <p:cNvGraphicFramePr/>
          <p:nvPr/>
        </p:nvGraphicFramePr>
        <p:xfrm>
          <a:off x="1476659" y="1711412"/>
          <a:ext cx="14839825" cy="7177465"/>
        </p:xfrm>
        <a:graphic>
          <a:graphicData uri="http://schemas.openxmlformats.org/drawingml/2006/table">
            <a:tbl>
              <a:tblPr>
                <a:noFill/>
                <a:tableStyleId>{27B75B05-E61A-46E2-B89D-12E1AA7B1EE1}</a:tableStyleId>
              </a:tblPr>
              <a:tblGrid>
                <a:gridCol w="2375950">
                  <a:extLst>
                    <a:ext uri="{9D8B030D-6E8A-4147-A177-3AD203B41FA5}">
                      <a16:colId xmlns:a16="http://schemas.microsoft.com/office/drawing/2014/main" val="20000"/>
                    </a:ext>
                  </a:extLst>
                </a:gridCol>
                <a:gridCol w="2375950">
                  <a:extLst>
                    <a:ext uri="{9D8B030D-6E8A-4147-A177-3AD203B41FA5}">
                      <a16:colId xmlns:a16="http://schemas.microsoft.com/office/drawing/2014/main" val="20001"/>
                    </a:ext>
                  </a:extLst>
                </a:gridCol>
                <a:gridCol w="2375950">
                  <a:extLst>
                    <a:ext uri="{9D8B030D-6E8A-4147-A177-3AD203B41FA5}">
                      <a16:colId xmlns:a16="http://schemas.microsoft.com/office/drawing/2014/main" val="20002"/>
                    </a:ext>
                  </a:extLst>
                </a:gridCol>
                <a:gridCol w="1791875">
                  <a:extLst>
                    <a:ext uri="{9D8B030D-6E8A-4147-A177-3AD203B41FA5}">
                      <a16:colId xmlns:a16="http://schemas.microsoft.com/office/drawing/2014/main" val="20003"/>
                    </a:ext>
                  </a:extLst>
                </a:gridCol>
                <a:gridCol w="2960050">
                  <a:extLst>
                    <a:ext uri="{9D8B030D-6E8A-4147-A177-3AD203B41FA5}">
                      <a16:colId xmlns:a16="http://schemas.microsoft.com/office/drawing/2014/main" val="20004"/>
                    </a:ext>
                  </a:extLst>
                </a:gridCol>
                <a:gridCol w="2960050">
                  <a:extLst>
                    <a:ext uri="{9D8B030D-6E8A-4147-A177-3AD203B41FA5}">
                      <a16:colId xmlns:a16="http://schemas.microsoft.com/office/drawing/2014/main" val="20005"/>
                    </a:ext>
                  </a:extLst>
                </a:gridCol>
              </a:tblGrid>
              <a:tr h="999490">
                <a:tc>
                  <a:txBody>
                    <a:bodyPr/>
                    <a:lstStyle/>
                    <a:p>
                      <a:pPr algn="ctr"/>
                      <a:r>
                        <a:rPr lang="en-US" altLang="zh-CN" sz="1800"/>
                        <a:t>Features / Methods</a:t>
                      </a:r>
                    </a:p>
                  </a:txBody>
                  <a:tcPr marL="0" marR="0" marT="0" marB="0" anchor="ctr">
                    <a:solidFill>
                      <a:srgbClr val="C4E0B2"/>
                    </a:solidFill>
                  </a:tcPr>
                </a:tc>
                <a:tc>
                  <a:txBody>
                    <a:bodyPr/>
                    <a:lstStyle/>
                    <a:p>
                      <a:pPr algn="ctr"/>
                      <a:r>
                        <a:rPr lang="en-US" altLang="zh-CN" sz="1800"/>
                        <a:t>Cai et al. (2025)</a:t>
                      </a:r>
                    </a:p>
                  </a:txBody>
                  <a:tcPr marL="0" marR="0" marT="0" marB="0" anchor="ctr"/>
                </a:tc>
                <a:tc>
                  <a:txBody>
                    <a:bodyPr/>
                    <a:lstStyle/>
                    <a:p>
                      <a:pPr algn="ctr"/>
                      <a:r>
                        <a:rPr lang="en-US" altLang="zh-CN" sz="1800"/>
                        <a:t>Nakaguchi &amp; Ahamed (2022)</a:t>
                      </a:r>
                    </a:p>
                  </a:txBody>
                  <a:tcPr marL="0" marR="0" marT="0" marB="0" anchor="ctr"/>
                </a:tc>
                <a:tc>
                  <a:txBody>
                    <a:bodyPr/>
                    <a:lstStyle/>
                    <a:p>
                      <a:pPr algn="ctr"/>
                      <a:r>
                        <a:rPr lang="en-US" altLang="zh-CN" sz="1800"/>
                        <a:t>Nakaguchi et al. (2024)</a:t>
                      </a:r>
                    </a:p>
                  </a:txBody>
                  <a:tcPr marL="0" marR="0" marT="0" marB="0" anchor="ctr"/>
                </a:tc>
                <a:tc>
                  <a:txBody>
                    <a:bodyPr/>
                    <a:lstStyle/>
                    <a:p>
                      <a:pPr algn="ctr"/>
                      <a:r>
                        <a:rPr lang="en-US" altLang="zh-CN" sz="1800"/>
                        <a:t>Lubich et al. (2019)</a:t>
                      </a:r>
                    </a:p>
                  </a:txBody>
                  <a:tcPr marL="0" marR="0" marT="0" marB="0" anchor="ctr"/>
                </a:tc>
                <a:tc>
                  <a:txBody>
                    <a:bodyPr/>
                    <a:lstStyle/>
                    <a:p>
                      <a:pPr algn="ctr"/>
                      <a:r>
                        <a:rPr lang="en-US" altLang="zh-CN" sz="1800"/>
                        <a:t>Saha et al. (2023)</a:t>
                      </a:r>
                    </a:p>
                  </a:txBody>
                  <a:tcPr marL="0" marR="0" marT="0" marB="0" anchor="ctr">
                    <a:solidFill>
                      <a:srgbClr val="C4E0B2"/>
                    </a:solidFill>
                  </a:tcPr>
                </a:tc>
                <a:extLst>
                  <a:ext uri="{0D108BD9-81ED-4DB2-BD59-A6C34878D82A}">
                    <a16:rowId xmlns:a16="http://schemas.microsoft.com/office/drawing/2014/main" val="10000"/>
                  </a:ext>
                </a:extLst>
              </a:tr>
              <a:tr h="800150">
                <a:tc>
                  <a:txBody>
                    <a:bodyPr/>
                    <a:lstStyle/>
                    <a:p>
                      <a:pPr algn="l"/>
                      <a:r>
                        <a:rPr lang="en-US" altLang="zh-CN" sz="1800"/>
                        <a:t>F1: Camera-Based Inspection</a:t>
                      </a:r>
                    </a:p>
                  </a:txBody>
                  <a:tcPr marL="0" marR="0" marT="0" marB="0" anchor="ctr">
                    <a:solidFill>
                      <a:srgbClr val="E1EFD8"/>
                    </a:solidFill>
                  </a:tcPr>
                </a:tc>
                <a:tc>
                  <a:txBody>
                    <a:bodyPr/>
                    <a:lstStyle/>
                    <a:p>
                      <a:pPr algn="ctr"/>
                      <a:r>
                        <a:rPr lang="en-US" altLang="zh-CN" sz="1800"/>
                        <a:t>✓</a:t>
                      </a:r>
                    </a:p>
                  </a:txBody>
                  <a:tcPr marL="0" marR="0" marT="0" marB="0" anchor="ctr">
                    <a:solidFill>
                      <a:srgbClr val="E1EFD8"/>
                    </a:solidFill>
                  </a:tcPr>
                </a:tc>
                <a:tc>
                  <a:txBody>
                    <a:bodyPr/>
                    <a:lstStyle/>
                    <a:p>
                      <a:pPr algn="ctr"/>
                      <a:r>
                        <a:rPr lang="en-US" altLang="zh-CN" sz="1800"/>
                        <a:t>✓</a:t>
                      </a:r>
                    </a:p>
                  </a:txBody>
                  <a:tcPr marL="0" marR="0" marT="0" marB="0" anchor="ctr">
                    <a:solidFill>
                      <a:srgbClr val="E1EFD8"/>
                    </a:solidFill>
                  </a:tcPr>
                </a:tc>
                <a:tc>
                  <a:txBody>
                    <a:bodyPr/>
                    <a:lstStyle/>
                    <a:p>
                      <a:pPr algn="ctr"/>
                      <a:r>
                        <a:rPr lang="en-US" altLang="zh-CN" sz="1800"/>
                        <a:t>✓</a:t>
                      </a:r>
                    </a:p>
                  </a:txBody>
                  <a:tcPr marL="0" marR="0" marT="0" marB="0" anchor="ctr">
                    <a:solidFill>
                      <a:srgbClr val="E1EFD8"/>
                    </a:solidFill>
                  </a:tcPr>
                </a:tc>
                <a:tc>
                  <a:txBody>
                    <a:bodyPr/>
                    <a:lstStyle/>
                    <a:p>
                      <a:pPr algn="ctr"/>
                      <a:r>
                        <a:rPr lang="en-US" altLang="zh-CN" sz="1800"/>
                        <a:t>✓</a:t>
                      </a:r>
                    </a:p>
                  </a:txBody>
                  <a:tcPr marL="0" marR="0" marT="0" marB="0" anchor="ctr">
                    <a:solidFill>
                      <a:srgbClr val="E1EFD8"/>
                    </a:solidFill>
                  </a:tcPr>
                </a:tc>
                <a:tc>
                  <a:txBody>
                    <a:bodyPr/>
                    <a:lstStyle/>
                    <a:p>
                      <a:pPr algn="ctr"/>
                      <a:r>
                        <a:rPr lang="en-US" altLang="zh-CN" sz="1800"/>
                        <a:t>✓</a:t>
                      </a:r>
                    </a:p>
                  </a:txBody>
                  <a:tcPr marL="0" marR="0" marT="0" marB="0" anchor="ctr">
                    <a:solidFill>
                      <a:srgbClr val="E1EFD8"/>
                    </a:solidFill>
                  </a:tcPr>
                </a:tc>
                <a:extLst>
                  <a:ext uri="{0D108BD9-81ED-4DB2-BD59-A6C34878D82A}">
                    <a16:rowId xmlns:a16="http://schemas.microsoft.com/office/drawing/2014/main" val="10001"/>
                  </a:ext>
                </a:extLst>
              </a:tr>
              <a:tr h="436850">
                <a:tc>
                  <a:txBody>
                    <a:bodyPr/>
                    <a:lstStyle/>
                    <a:p>
                      <a:pPr algn="l"/>
                      <a:r>
                        <a:rPr lang="en-US" altLang="zh-CN" sz="1800"/>
                        <a:t>F2: Duck Egg Classification</a:t>
                      </a:r>
                    </a:p>
                  </a:txBody>
                  <a:tcPr marL="0" marR="0" marT="0" marB="0" anchor="ctr">
                    <a:solidFill>
                      <a:srgbClr val="E1EFD8"/>
                    </a:solidFill>
                  </a:tcPr>
                </a:tc>
                <a:tc>
                  <a:txBody>
                    <a:bodyPr/>
                    <a:lstStyle/>
                    <a:p>
                      <a:pPr algn="ctr"/>
                      <a:r>
                        <a:rPr lang="en-US" altLang="zh-CN" sz="1800"/>
                        <a:t>✓</a:t>
                      </a:r>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r>
                        <a:rPr lang="en-US" altLang="zh-CN" sz="1800"/>
                        <a:t>✓</a:t>
                      </a:r>
                    </a:p>
                  </a:txBody>
                  <a:tcPr marL="0" marR="0" marT="0" marB="0" anchor="ctr">
                    <a:solidFill>
                      <a:srgbClr val="E1EFD8"/>
                    </a:solidFill>
                  </a:tcPr>
                </a:tc>
                <a:tc>
                  <a:txBody>
                    <a:bodyPr/>
                    <a:lstStyle/>
                    <a:p>
                      <a:pPr algn="ctr"/>
                      <a:endParaRPr sz="1800"/>
                    </a:p>
                  </a:txBody>
                  <a:tcPr marL="0" marR="0" marT="0" marB="0" anchor="ctr">
                    <a:solidFill>
                      <a:srgbClr val="E1EFD8"/>
                    </a:solidFill>
                  </a:tcPr>
                </a:tc>
                <a:extLst>
                  <a:ext uri="{0D108BD9-81ED-4DB2-BD59-A6C34878D82A}">
                    <a16:rowId xmlns:a16="http://schemas.microsoft.com/office/drawing/2014/main" val="10002"/>
                  </a:ext>
                </a:extLst>
              </a:tr>
              <a:tr h="436850">
                <a:tc>
                  <a:txBody>
                    <a:bodyPr/>
                    <a:lstStyle/>
                    <a:p>
                      <a:pPr algn="l"/>
                      <a:r>
                        <a:rPr lang="en-US" altLang="zh-CN" sz="1800"/>
                        <a:t>F3: Incubation-Stage Classification</a:t>
                      </a:r>
                    </a:p>
                  </a:txBody>
                  <a:tcPr marL="0" marR="0" marT="0" marB="0" anchor="ctr">
                    <a:solidFill>
                      <a:srgbClr val="E1EFD8"/>
                    </a:solidFill>
                  </a:tcPr>
                </a:tc>
                <a:tc>
                  <a:txBody>
                    <a:bodyPr/>
                    <a:lstStyle/>
                    <a:p>
                      <a:pPr algn="ctr"/>
                      <a:r>
                        <a:rPr lang="en-US" altLang="zh-CN" sz="1800"/>
                        <a:t>✓</a:t>
                      </a:r>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endParaRPr sz="1800"/>
                    </a:p>
                  </a:txBody>
                  <a:tcPr marL="0" marR="0" marT="0" marB="0" anchor="ctr">
                    <a:solidFill>
                      <a:srgbClr val="E1EFD8"/>
                    </a:solidFill>
                  </a:tcPr>
                </a:tc>
                <a:extLst>
                  <a:ext uri="{0D108BD9-81ED-4DB2-BD59-A6C34878D82A}">
                    <a16:rowId xmlns:a16="http://schemas.microsoft.com/office/drawing/2014/main" val="10003"/>
                  </a:ext>
                </a:extLst>
              </a:tr>
              <a:tr h="796625">
                <a:tc>
                  <a:txBody>
                    <a:bodyPr/>
                    <a:lstStyle/>
                    <a:p>
                      <a:pPr algn="l"/>
                      <a:r>
                        <a:rPr lang="en-US" altLang="zh-CN" sz="1800"/>
                        <a:t>F4: 16-, 17-, 18-Day Classification</a:t>
                      </a:r>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endParaRPr sz="1800"/>
                    </a:p>
                  </a:txBody>
                  <a:tcPr marL="0" marR="0" marT="0" marB="0" anchor="ctr">
                    <a:solidFill>
                      <a:srgbClr val="E1EFD8"/>
                    </a:solidFill>
                  </a:tcPr>
                </a:tc>
                <a:extLst>
                  <a:ext uri="{0D108BD9-81ED-4DB2-BD59-A6C34878D82A}">
                    <a16:rowId xmlns:a16="http://schemas.microsoft.com/office/drawing/2014/main" val="10004"/>
                  </a:ext>
                </a:extLst>
              </a:tr>
              <a:tr h="604500">
                <a:tc>
                  <a:txBody>
                    <a:bodyPr/>
                    <a:lstStyle/>
                    <a:p>
                      <a:pPr algn="l"/>
                      <a:r>
                        <a:rPr lang="en-US" altLang="zh-CN" sz="1800"/>
                        <a:t>F5: Quail Egg Assessment</a:t>
                      </a:r>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r>
                        <a:rPr lang="en-US" altLang="zh-CN" sz="1800"/>
                        <a:t>✓</a:t>
                      </a:r>
                    </a:p>
                  </a:txBody>
                  <a:tcPr marL="0" marR="0" marT="0" marB="0" anchor="ctr">
                    <a:solidFill>
                      <a:srgbClr val="E1EFD8"/>
                    </a:solidFill>
                  </a:tcPr>
                </a:tc>
                <a:tc>
                  <a:txBody>
                    <a:bodyPr/>
                    <a:lstStyle/>
                    <a:p>
                      <a:pPr algn="ctr"/>
                      <a:r>
                        <a:rPr lang="en-US" altLang="zh-CN" sz="1800"/>
                        <a:t>✓</a:t>
                      </a:r>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endParaRPr sz="1800"/>
                    </a:p>
                  </a:txBody>
                  <a:tcPr marL="0" marR="0" marT="0" marB="0" anchor="ctr">
                    <a:solidFill>
                      <a:srgbClr val="E1EFD8"/>
                    </a:solidFill>
                  </a:tcPr>
                </a:tc>
                <a:extLst>
                  <a:ext uri="{0D108BD9-81ED-4DB2-BD59-A6C34878D82A}">
                    <a16:rowId xmlns:a16="http://schemas.microsoft.com/office/drawing/2014/main" val="10005"/>
                  </a:ext>
                </a:extLst>
              </a:tr>
              <a:tr h="436850">
                <a:tc>
                  <a:txBody>
                    <a:bodyPr/>
                    <a:lstStyle/>
                    <a:p>
                      <a:pPr algn="l"/>
                      <a:r>
                        <a:rPr lang="en-US" altLang="zh-CN" sz="1800"/>
                        <a:t>F6: Fertility Classification</a:t>
                      </a:r>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r>
                        <a:rPr lang="en-US" altLang="zh-CN" sz="1800"/>
                        <a:t>✓*</a:t>
                      </a:r>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endParaRPr sz="1800"/>
                    </a:p>
                  </a:txBody>
                  <a:tcPr marL="0" marR="0" marT="0" marB="0" anchor="ctr">
                    <a:solidFill>
                      <a:srgbClr val="E1EFD8"/>
                    </a:solidFill>
                  </a:tcPr>
                </a:tc>
                <a:extLst>
                  <a:ext uri="{0D108BD9-81ED-4DB2-BD59-A6C34878D82A}">
                    <a16:rowId xmlns:a16="http://schemas.microsoft.com/office/drawing/2014/main" val="10006"/>
                  </a:ext>
                </a:extLst>
              </a:tr>
              <a:tr h="616750">
                <a:tc>
                  <a:txBody>
                    <a:bodyPr/>
                    <a:lstStyle/>
                    <a:p>
                      <a:pPr algn="l"/>
                      <a:r>
                        <a:rPr lang="en-US" altLang="zh-CN" sz="1800"/>
                        <a:t>F7: Deep Learning</a:t>
                      </a:r>
                    </a:p>
                  </a:txBody>
                  <a:tcPr marL="0" marR="0" marT="0" marB="0" anchor="ctr">
                    <a:solidFill>
                      <a:srgbClr val="E1EFD8"/>
                    </a:solidFill>
                  </a:tcPr>
                </a:tc>
                <a:tc>
                  <a:txBody>
                    <a:bodyPr/>
                    <a:lstStyle/>
                    <a:p>
                      <a:pPr algn="ctr"/>
                      <a:r>
                        <a:rPr lang="en-US" altLang="zh-CN" sz="1800"/>
                        <a:t>✓</a:t>
                      </a:r>
                    </a:p>
                  </a:txBody>
                  <a:tcPr marL="0" marR="0" marT="0" marB="0" anchor="ctr">
                    <a:solidFill>
                      <a:srgbClr val="E1EFD8"/>
                    </a:solidFill>
                  </a:tcPr>
                </a:tc>
                <a:tc>
                  <a:txBody>
                    <a:bodyPr/>
                    <a:lstStyle/>
                    <a:p>
                      <a:pPr algn="ctr"/>
                      <a:r>
                        <a:rPr lang="en-US" altLang="zh-CN" sz="1800"/>
                        <a:t>✓</a:t>
                      </a:r>
                    </a:p>
                  </a:txBody>
                  <a:tcPr marL="0" marR="0" marT="0" marB="0" anchor="ctr">
                    <a:solidFill>
                      <a:srgbClr val="E1EFD8"/>
                    </a:solidFill>
                  </a:tcPr>
                </a:tc>
                <a:tc>
                  <a:txBody>
                    <a:bodyPr/>
                    <a:lstStyle/>
                    <a:p>
                      <a:pPr algn="ctr"/>
                      <a:r>
                        <a:rPr lang="en-US" altLang="zh-CN" sz="1800"/>
                        <a:t>✓</a:t>
                      </a:r>
                    </a:p>
                  </a:txBody>
                  <a:tcPr marL="0" marR="0" marT="0" marB="0" anchor="ctr">
                    <a:solidFill>
                      <a:srgbClr val="E1EFD8"/>
                    </a:solidFill>
                  </a:tcPr>
                </a:tc>
                <a:tc>
                  <a:txBody>
                    <a:bodyPr/>
                    <a:lstStyle/>
                    <a:p>
                      <a:pPr algn="ctr"/>
                      <a:r>
                        <a:rPr lang="en-US" altLang="zh-CN" sz="1800"/>
                        <a:t>✓</a:t>
                      </a:r>
                    </a:p>
                  </a:txBody>
                  <a:tcPr marL="0" marR="0" marT="0" marB="0" anchor="ctr">
                    <a:solidFill>
                      <a:srgbClr val="E1EFD8"/>
                    </a:solidFill>
                  </a:tcPr>
                </a:tc>
                <a:tc>
                  <a:txBody>
                    <a:bodyPr/>
                    <a:lstStyle/>
                    <a:p>
                      <a:pPr algn="ctr"/>
                      <a:r>
                        <a:rPr lang="en-US" altLang="zh-CN" sz="1800"/>
                        <a:t>✓</a:t>
                      </a:r>
                    </a:p>
                  </a:txBody>
                  <a:tcPr marL="0" marR="0" marT="0" marB="0" anchor="ctr">
                    <a:solidFill>
                      <a:srgbClr val="E1EFD8"/>
                    </a:solidFill>
                  </a:tcPr>
                </a:tc>
                <a:extLst>
                  <a:ext uri="{0D108BD9-81ED-4DB2-BD59-A6C34878D82A}">
                    <a16:rowId xmlns:a16="http://schemas.microsoft.com/office/drawing/2014/main" val="10007"/>
                  </a:ext>
                </a:extLst>
              </a:tr>
              <a:tr h="465350">
                <a:tc>
                  <a:txBody>
                    <a:bodyPr/>
                    <a:lstStyle/>
                    <a:p>
                      <a:pPr algn="l"/>
                      <a:r>
                        <a:rPr lang="en-US" altLang="zh-CN" sz="1800"/>
                        <a:t>F8: Edge/Raspberry Pi Deployment</a:t>
                      </a:r>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r>
                        <a:rPr lang="en-US" altLang="zh-CN" sz="1800"/>
                        <a:t>✓</a:t>
                      </a:r>
                    </a:p>
                  </a:txBody>
                  <a:tcPr marL="0" marR="0" marT="0" marB="0" anchor="ctr">
                    <a:solidFill>
                      <a:srgbClr val="E1EFD8"/>
                    </a:solidFill>
                  </a:tcPr>
                </a:tc>
                <a:extLst>
                  <a:ext uri="{0D108BD9-81ED-4DB2-BD59-A6C34878D82A}">
                    <a16:rowId xmlns:a16="http://schemas.microsoft.com/office/drawing/2014/main" val="10008"/>
                  </a:ext>
                </a:extLst>
              </a:tr>
              <a:tr h="616750">
                <a:tc>
                  <a:txBody>
                    <a:bodyPr/>
                    <a:lstStyle/>
                    <a:p>
                      <a:pPr algn="l"/>
                      <a:r>
                        <a:rPr lang="en-US" altLang="zh-CN" sz="1800"/>
                        <a:t>F9: Offline/Local Processing</a:t>
                      </a:r>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r>
                        <a:rPr lang="en-US" altLang="zh-CN" sz="1800"/>
                        <a:t>✓</a:t>
                      </a:r>
                    </a:p>
                  </a:txBody>
                  <a:tcPr marL="0" marR="0" marT="0" marB="0" anchor="ctr">
                    <a:solidFill>
                      <a:srgbClr val="E1EFD8"/>
                    </a:solidFill>
                  </a:tcPr>
                </a:tc>
                <a:tc>
                  <a:txBody>
                    <a:bodyPr/>
                    <a:lstStyle/>
                    <a:p>
                      <a:pPr algn="ctr"/>
                      <a:r>
                        <a:rPr lang="en-US" altLang="zh-CN" sz="1800"/>
                        <a:t>✓</a:t>
                      </a:r>
                    </a:p>
                  </a:txBody>
                  <a:tcPr marL="0" marR="0" marT="0" marB="0" anchor="ctr">
                    <a:solidFill>
                      <a:srgbClr val="E1EFD8"/>
                    </a:solidFill>
                  </a:tcPr>
                </a:tc>
                <a:extLst>
                  <a:ext uri="{0D108BD9-81ED-4DB2-BD59-A6C34878D82A}">
                    <a16:rowId xmlns:a16="http://schemas.microsoft.com/office/drawing/2014/main" val="10009"/>
                  </a:ext>
                </a:extLst>
              </a:tr>
              <a:tr h="436850">
                <a:tc>
                  <a:txBody>
                    <a:bodyPr/>
                    <a:lstStyle/>
                    <a:p>
                      <a:pPr algn="l"/>
                      <a:r>
                        <a:rPr lang="en-US" altLang="zh-CN" sz="1800"/>
                        <a:t>F10: Automated Yield Summation</a:t>
                      </a:r>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endParaRPr sz="1800"/>
                    </a:p>
                  </a:txBody>
                  <a:tcPr marL="0" marR="0" marT="0" marB="0" anchor="ctr">
                    <a:solidFill>
                      <a:srgbClr val="E1EFD8"/>
                    </a:solidFill>
                  </a:tcPr>
                </a:tc>
                <a:tc>
                  <a:txBody>
                    <a:bodyPr/>
                    <a:lstStyle/>
                    <a:p>
                      <a:pPr algn="ctr"/>
                      <a:endParaRPr sz="1800"/>
                    </a:p>
                  </a:txBody>
                  <a:tcPr marL="0" marR="0" marT="0" marB="0" anchor="ctr">
                    <a:solidFill>
                      <a:srgbClr val="E1EFD8"/>
                    </a:solidFill>
                  </a:tcPr>
                </a:tc>
                <a:extLst>
                  <a:ext uri="{0D108BD9-81ED-4DB2-BD59-A6C34878D82A}">
                    <a16:rowId xmlns:a16="http://schemas.microsoft.com/office/drawing/2014/main" val="10010"/>
                  </a:ext>
                </a:extLst>
              </a:tr>
            </a:tbl>
          </a:graphicData>
        </a:graphic>
      </p:graphicFrame>
      <p:pic>
        <p:nvPicPr>
          <p:cNvPr id="127" name="Google Shape;127;p21"/>
          <p:cNvPicPr preferRelativeResize="0"/>
          <p:nvPr/>
        </p:nvPicPr>
        <p:blipFill rotWithShape="1">
          <a:blip r:embed="rId4"/>
          <a:srcRect/>
          <a:stretch>
            <a:fillRect/>
          </a:stretch>
        </p:blipFill>
        <p:spPr>
          <a:xfrm>
            <a:off x="14666109" y="147008"/>
            <a:ext cx="1650361" cy="1634181"/>
          </a:xfrm>
          <a:prstGeom prst="rect">
            <a:avLst/>
          </a:prstGeom>
          <a:noFill/>
          <a:ln>
            <a:noFill/>
          </a:ln>
        </p:spPr>
      </p:pic>
      <p:pic>
        <p:nvPicPr>
          <p:cNvPr id="128" name="Google Shape;128;p21"/>
          <p:cNvPicPr preferRelativeResize="0"/>
          <p:nvPr/>
        </p:nvPicPr>
        <p:blipFill rotWithShape="1">
          <a:blip r:embed="rId5"/>
          <a:srcRect/>
          <a:stretch>
            <a:fillRect/>
          </a:stretch>
        </p:blipFill>
        <p:spPr>
          <a:xfrm>
            <a:off x="16491334" y="147008"/>
            <a:ext cx="1621801" cy="163418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2"/>
          <p:cNvSpPr/>
          <p:nvPr/>
        </p:nvSpPr>
        <p:spPr>
          <a:xfrm flipH="1">
            <a:off x="-1" y="0"/>
            <a:ext cx="18288001" cy="10287000"/>
          </a:xfrm>
          <a:custGeom>
            <a:avLst/>
            <a:gdLst/>
            <a:ahLst/>
            <a:cxnLst/>
            <a:rect l="l" t="t" r="r" b="b"/>
            <a:pathLst>
              <a:path w="20590706" h="11514063" extrusionOk="0">
                <a:moveTo>
                  <a:pt x="20590706" y="0"/>
                </a:moveTo>
                <a:lnTo>
                  <a:pt x="0" y="0"/>
                </a:lnTo>
                <a:lnTo>
                  <a:pt x="0" y="11514063"/>
                </a:lnTo>
                <a:lnTo>
                  <a:pt x="20590706" y="11514063"/>
                </a:lnTo>
                <a:lnTo>
                  <a:pt x="20590706" y="0"/>
                </a:lnTo>
                <a:close/>
              </a:path>
            </a:pathLst>
          </a:custGeom>
          <a:blipFill rotWithShape="1">
            <a:blip r:embed="rId3"/>
            <a:stretch>
              <a:fillRect t="-589"/>
            </a:stretch>
          </a:blipFill>
          <a:ln>
            <a:noFill/>
          </a:ln>
        </p:spPr>
        <p:txBody>
          <a:bodyPr/>
          <a:lstStyle/>
          <a:p>
            <a:endParaRPr lang="en-PH"/>
          </a:p>
        </p:txBody>
      </p:sp>
      <p:sp>
        <p:nvSpPr>
          <p:cNvPr id="134" name="Google Shape;134;p22"/>
          <p:cNvSpPr txBox="1"/>
          <p:nvPr/>
        </p:nvSpPr>
        <p:spPr>
          <a:xfrm>
            <a:off x="1186922" y="900275"/>
            <a:ext cx="9557278" cy="1097865"/>
          </a:xfrm>
          <a:prstGeom prst="rect">
            <a:avLst/>
          </a:prstGeom>
          <a:noFill/>
          <a:ln>
            <a:noFill/>
          </a:ln>
        </p:spPr>
        <p:txBody>
          <a:bodyPr spcFirstLastPara="1" wrap="square" lIns="0" tIns="0" rIns="0" bIns="0" anchor="t" anchorCtr="0">
            <a:spAutoFit/>
          </a:bodyPr>
          <a:lstStyle/>
          <a:p>
            <a:pPr marL="0" marR="0" lvl="0" indent="0" algn="l" rtl="0">
              <a:lnSpc>
                <a:spcPct val="123000"/>
              </a:lnSpc>
              <a:spcBef>
                <a:spcPts val="0"/>
              </a:spcBef>
              <a:spcAft>
                <a:spcPts val="0"/>
              </a:spcAft>
              <a:buClr>
                <a:srgbClr val="000000"/>
              </a:buClr>
              <a:buSzPts val="5800"/>
              <a:buFont typeface="Arial" panose="020B0604020202020204"/>
              <a:buNone/>
            </a:pPr>
            <a:r>
              <a:rPr lang="en-US" sz="5800" b="1" i="0" u="none" strike="noStrike" cap="none">
                <a:solidFill>
                  <a:srgbClr val="000000"/>
                </a:solidFill>
                <a:latin typeface="Century Gothic" panose="020B0502020202020204"/>
                <a:ea typeface="Century Gothic" panose="020B0502020202020204"/>
                <a:cs typeface="Century Gothic" panose="020B0502020202020204"/>
                <a:sym typeface="Century Gothic" panose="020B0502020202020204"/>
              </a:rPr>
              <a:t>SOP</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5" name="Google Shape;135;p22"/>
          <p:cNvSpPr txBox="1"/>
          <p:nvPr/>
        </p:nvSpPr>
        <p:spPr>
          <a:xfrm>
            <a:off x="1186838" y="2509891"/>
            <a:ext cx="15943744" cy="4739640"/>
          </a:xfrm>
          <a:prstGeom prst="rect">
            <a:avLst/>
          </a:prstGeom>
          <a:noFill/>
          <a:ln>
            <a:noFill/>
          </a:ln>
        </p:spPr>
        <p:txBody>
          <a:bodyPr spcFirstLastPara="1" wrap="square" lIns="0" tIns="0" rIns="0" bIns="0" anchor="t" anchorCtr="0">
            <a:spAutoFit/>
          </a:bodyPr>
          <a:lstStyle/>
          <a:p>
            <a:pPr marL="742950" marR="0" lvl="0" indent="-742950" algn="just" rtl="0">
              <a:lnSpc>
                <a:spcPct val="100000"/>
              </a:lnSpc>
              <a:spcBef>
                <a:spcPts val="1200"/>
              </a:spcBef>
              <a:spcAft>
                <a:spcPts val="0"/>
              </a:spcAft>
              <a:buClr>
                <a:srgbClr val="000000"/>
              </a:buClr>
              <a:buSzPts val="3600"/>
              <a:buFont typeface="Arial" panose="020B0604020202020204"/>
              <a:buAutoNum type="arabicPeriod"/>
            </a:pPr>
            <a:r>
              <a:rPr lang="en-US" altLang="en-US" sz="3200" b="0" i="0" u="none" strike="noStrike" cap="none">
                <a:solidFill>
                  <a:srgbClr val="000000"/>
                </a:solidFill>
                <a:latin typeface="Arial" panose="020B0604020202020204"/>
                <a:ea typeface="Arial" panose="020B0604020202020204"/>
                <a:cs typeface="Arial" panose="020B0604020202020204"/>
                <a:sym typeface="Arial" panose="020B0604020202020204"/>
              </a:rPr>
              <a:t>How can the researchers design and develop a lightweight Edge-AI system capable of acquiring and processing candled images of duck and quail eggs for incubation-stage and fertility classification?</a:t>
            </a:r>
          </a:p>
          <a:p>
            <a:pPr marL="742950" marR="0" lvl="0" indent="-742950" algn="just" rtl="0">
              <a:lnSpc>
                <a:spcPct val="100000"/>
              </a:lnSpc>
              <a:spcBef>
                <a:spcPts val="1200"/>
              </a:spcBef>
              <a:spcAft>
                <a:spcPts val="0"/>
              </a:spcAft>
              <a:buClr>
                <a:srgbClr val="000000"/>
              </a:buClr>
              <a:buSzPts val="3600"/>
              <a:buFont typeface="Arial" panose="020B0604020202020204"/>
              <a:buAutoNum type="arabicPeriod"/>
            </a:pPr>
            <a:r>
              <a:rPr lang="en-US" altLang="en-US" sz="3200" b="0" i="0" u="none" strike="noStrike" cap="none">
                <a:solidFill>
                  <a:srgbClr val="000000"/>
                </a:solidFill>
                <a:latin typeface="Arial" panose="020B0604020202020204"/>
                <a:ea typeface="Arial" panose="020B0604020202020204"/>
                <a:cs typeface="Arial" panose="020B0604020202020204"/>
                <a:sym typeface="Arial" panose="020B0604020202020204"/>
              </a:rPr>
              <a:t>How can the researchers develop and implement a deep-learning pipeline for classifying duck eggs according to 16-, 17-, and 18-day incubation stages and determining the fertility of quail eggs from candled images?</a:t>
            </a:r>
          </a:p>
          <a:p>
            <a:pPr marL="742950" marR="0" lvl="0" indent="-742950" algn="just" rtl="0">
              <a:lnSpc>
                <a:spcPct val="100000"/>
              </a:lnSpc>
              <a:spcBef>
                <a:spcPts val="1200"/>
              </a:spcBef>
              <a:spcAft>
                <a:spcPts val="0"/>
              </a:spcAft>
              <a:buClr>
                <a:srgbClr val="000000"/>
              </a:buClr>
              <a:buSzPts val="3600"/>
              <a:buFont typeface="Arial" panose="020B0604020202020204"/>
              <a:buAutoNum type="arabicPeriod"/>
            </a:pPr>
            <a:r>
              <a:rPr lang="en-US" altLang="en-US" sz="3200" b="0" i="0" u="none" strike="noStrike" cap="none">
                <a:solidFill>
                  <a:srgbClr val="000000"/>
                </a:solidFill>
                <a:latin typeface="Arial" panose="020B0604020202020204"/>
                <a:ea typeface="Arial" panose="020B0604020202020204"/>
                <a:cs typeface="Arial" panose="020B0604020202020204"/>
                <a:sym typeface="Arial" panose="020B0604020202020204"/>
              </a:rPr>
              <a:t>How can the performance of the developed EggPoint system be evaluated in terms of classification accuracy and production-yield recording during actual poultry egg inspection?</a:t>
            </a:r>
          </a:p>
        </p:txBody>
      </p:sp>
      <p:grpSp>
        <p:nvGrpSpPr>
          <p:cNvPr id="136" name="Google Shape;136;p22"/>
          <p:cNvGrpSpPr/>
          <p:nvPr/>
        </p:nvGrpSpPr>
        <p:grpSpPr>
          <a:xfrm>
            <a:off x="656265" y="1735422"/>
            <a:ext cx="2596221" cy="256118"/>
            <a:chOff x="0" y="0"/>
            <a:chExt cx="10948519" cy="341491"/>
          </a:xfrm>
        </p:grpSpPr>
        <p:cxnSp>
          <p:nvCxnSpPr>
            <p:cNvPr id="137" name="Google Shape;137;p22"/>
            <p:cNvCxnSpPr/>
            <p:nvPr/>
          </p:nvCxnSpPr>
          <p:spPr>
            <a:xfrm>
              <a:off x="298669" y="170745"/>
              <a:ext cx="10308358" cy="0"/>
            </a:xfrm>
            <a:prstGeom prst="straightConnector1">
              <a:avLst/>
            </a:prstGeom>
            <a:noFill/>
            <a:ln w="50800" cap="flat" cmpd="sng">
              <a:solidFill>
                <a:srgbClr val="000000"/>
              </a:solidFill>
              <a:prstDash val="solid"/>
              <a:round/>
              <a:headEnd type="none" w="sm" len="sm"/>
              <a:tailEnd type="none" w="sm" len="sm"/>
            </a:ln>
          </p:spPr>
        </p:cxnSp>
        <p:grpSp>
          <p:nvGrpSpPr>
            <p:cNvPr id="138" name="Google Shape;138;p22"/>
            <p:cNvGrpSpPr/>
            <p:nvPr/>
          </p:nvGrpSpPr>
          <p:grpSpPr>
            <a:xfrm>
              <a:off x="10607028" y="0"/>
              <a:ext cx="341491" cy="341491"/>
              <a:chOff x="0" y="0"/>
              <a:chExt cx="812800" cy="812800"/>
            </a:xfrm>
          </p:grpSpPr>
          <p:sp>
            <p:nvSpPr>
              <p:cNvPr id="139" name="Google Shape;139;p2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 name="Google Shape;140;p22"/>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141" name="Google Shape;141;p22"/>
            <p:cNvGrpSpPr/>
            <p:nvPr/>
          </p:nvGrpSpPr>
          <p:grpSpPr>
            <a:xfrm>
              <a:off x="0" y="0"/>
              <a:ext cx="341491" cy="341491"/>
              <a:chOff x="0" y="0"/>
              <a:chExt cx="812800" cy="812800"/>
            </a:xfrm>
          </p:grpSpPr>
          <p:sp>
            <p:nvSpPr>
              <p:cNvPr id="142" name="Google Shape;142;p2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3" name="Google Shape;143;p22"/>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pic>
        <p:nvPicPr>
          <p:cNvPr id="144" name="Google Shape;144;p22"/>
          <p:cNvPicPr preferRelativeResize="0"/>
          <p:nvPr/>
        </p:nvPicPr>
        <p:blipFill rotWithShape="1">
          <a:blip r:embed="rId4"/>
          <a:srcRect/>
          <a:stretch>
            <a:fillRect/>
          </a:stretch>
        </p:blipFill>
        <p:spPr>
          <a:xfrm>
            <a:off x="14666109" y="147008"/>
            <a:ext cx="1650361" cy="1634181"/>
          </a:xfrm>
          <a:prstGeom prst="rect">
            <a:avLst/>
          </a:prstGeom>
          <a:noFill/>
          <a:ln>
            <a:noFill/>
          </a:ln>
        </p:spPr>
      </p:pic>
      <p:pic>
        <p:nvPicPr>
          <p:cNvPr id="145" name="Google Shape;145;p22"/>
          <p:cNvPicPr preferRelativeResize="0"/>
          <p:nvPr/>
        </p:nvPicPr>
        <p:blipFill rotWithShape="1">
          <a:blip r:embed="rId5"/>
          <a:srcRect/>
          <a:stretch>
            <a:fillRect/>
          </a:stretch>
        </p:blipFill>
        <p:spPr>
          <a:xfrm>
            <a:off x="16491334" y="147008"/>
            <a:ext cx="1621801" cy="163418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3"/>
          <p:cNvSpPr/>
          <p:nvPr/>
        </p:nvSpPr>
        <p:spPr>
          <a:xfrm flipH="1">
            <a:off x="-2" y="1"/>
            <a:ext cx="18288001" cy="10287000"/>
          </a:xfrm>
          <a:custGeom>
            <a:avLst/>
            <a:gdLst/>
            <a:ahLst/>
            <a:cxnLst/>
            <a:rect l="l" t="t" r="r" b="b"/>
            <a:pathLst>
              <a:path w="20590706" h="11514063" extrusionOk="0">
                <a:moveTo>
                  <a:pt x="20590706" y="0"/>
                </a:moveTo>
                <a:lnTo>
                  <a:pt x="0" y="0"/>
                </a:lnTo>
                <a:lnTo>
                  <a:pt x="0" y="11514063"/>
                </a:lnTo>
                <a:lnTo>
                  <a:pt x="20590706" y="11514063"/>
                </a:lnTo>
                <a:lnTo>
                  <a:pt x="20590706" y="0"/>
                </a:lnTo>
                <a:close/>
              </a:path>
            </a:pathLst>
          </a:custGeom>
          <a:blipFill rotWithShape="1">
            <a:blip r:embed="rId3"/>
            <a:stretch>
              <a:fillRect t="-58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 name="Google Shape;151;p23"/>
          <p:cNvSpPr txBox="1"/>
          <p:nvPr/>
        </p:nvSpPr>
        <p:spPr>
          <a:xfrm>
            <a:off x="1186922" y="900275"/>
            <a:ext cx="9557278" cy="1097865"/>
          </a:xfrm>
          <a:prstGeom prst="rect">
            <a:avLst/>
          </a:prstGeom>
          <a:noFill/>
          <a:ln>
            <a:noFill/>
          </a:ln>
        </p:spPr>
        <p:txBody>
          <a:bodyPr spcFirstLastPara="1" wrap="square" lIns="0" tIns="0" rIns="0" bIns="0" anchor="t" anchorCtr="0">
            <a:spAutoFit/>
          </a:bodyPr>
          <a:lstStyle/>
          <a:p>
            <a:pPr marL="0" marR="0" lvl="0" indent="0" algn="l" rtl="0">
              <a:lnSpc>
                <a:spcPct val="123000"/>
              </a:lnSpc>
              <a:spcBef>
                <a:spcPts val="0"/>
              </a:spcBef>
              <a:spcAft>
                <a:spcPts val="0"/>
              </a:spcAft>
              <a:buClr>
                <a:srgbClr val="000000"/>
              </a:buClr>
              <a:buSzPts val="5800"/>
              <a:buFont typeface="Arial" panose="020B0604020202020204"/>
              <a:buNone/>
            </a:pPr>
            <a:r>
              <a:rPr lang="en-US" sz="5800" b="1" i="0" u="none" strike="noStrike" cap="none">
                <a:solidFill>
                  <a:srgbClr val="000000"/>
                </a:solidFill>
                <a:latin typeface="Century Gothic" panose="020B0502020202020204"/>
                <a:ea typeface="Century Gothic" panose="020B0502020202020204"/>
                <a:cs typeface="Century Gothic" panose="020B0502020202020204"/>
                <a:sym typeface="Century Gothic" panose="020B0502020202020204"/>
              </a:rPr>
              <a:t>OBJECTIVES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52" name="Google Shape;152;p23"/>
          <p:cNvGrpSpPr/>
          <p:nvPr/>
        </p:nvGrpSpPr>
        <p:grpSpPr>
          <a:xfrm>
            <a:off x="818312" y="1735422"/>
            <a:ext cx="6068626" cy="262718"/>
            <a:chOff x="0" y="0"/>
            <a:chExt cx="10948519" cy="341491"/>
          </a:xfrm>
        </p:grpSpPr>
        <p:cxnSp>
          <p:nvCxnSpPr>
            <p:cNvPr id="153" name="Google Shape;153;p23"/>
            <p:cNvCxnSpPr/>
            <p:nvPr/>
          </p:nvCxnSpPr>
          <p:spPr>
            <a:xfrm>
              <a:off x="298669" y="170745"/>
              <a:ext cx="10308358" cy="0"/>
            </a:xfrm>
            <a:prstGeom prst="straightConnector1">
              <a:avLst/>
            </a:prstGeom>
            <a:noFill/>
            <a:ln w="50800" cap="flat" cmpd="sng">
              <a:solidFill>
                <a:srgbClr val="000000"/>
              </a:solidFill>
              <a:prstDash val="solid"/>
              <a:round/>
              <a:headEnd type="none" w="sm" len="sm"/>
              <a:tailEnd type="none" w="sm" len="sm"/>
            </a:ln>
          </p:spPr>
        </p:cxnSp>
        <p:grpSp>
          <p:nvGrpSpPr>
            <p:cNvPr id="154" name="Google Shape;154;p23"/>
            <p:cNvGrpSpPr/>
            <p:nvPr/>
          </p:nvGrpSpPr>
          <p:grpSpPr>
            <a:xfrm>
              <a:off x="10607028" y="0"/>
              <a:ext cx="341491" cy="341491"/>
              <a:chOff x="0" y="0"/>
              <a:chExt cx="812800" cy="812800"/>
            </a:xfrm>
          </p:grpSpPr>
          <p:sp>
            <p:nvSpPr>
              <p:cNvPr id="155" name="Google Shape;155;p2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 name="Google Shape;156;p23"/>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157" name="Google Shape;157;p23"/>
            <p:cNvGrpSpPr/>
            <p:nvPr/>
          </p:nvGrpSpPr>
          <p:grpSpPr>
            <a:xfrm>
              <a:off x="0" y="0"/>
              <a:ext cx="341491" cy="341491"/>
              <a:chOff x="0" y="0"/>
              <a:chExt cx="812800" cy="812800"/>
            </a:xfrm>
          </p:grpSpPr>
          <p:sp>
            <p:nvSpPr>
              <p:cNvPr id="158" name="Google Shape;158;p2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9" name="Google Shape;159;p23"/>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pic>
        <p:nvPicPr>
          <p:cNvPr id="160" name="Google Shape;160;p23"/>
          <p:cNvPicPr preferRelativeResize="0"/>
          <p:nvPr/>
        </p:nvPicPr>
        <p:blipFill rotWithShape="1">
          <a:blip r:embed="rId4"/>
          <a:srcRect/>
          <a:stretch>
            <a:fillRect/>
          </a:stretch>
        </p:blipFill>
        <p:spPr>
          <a:xfrm>
            <a:off x="14666109" y="147008"/>
            <a:ext cx="1650361" cy="1634181"/>
          </a:xfrm>
          <a:prstGeom prst="rect">
            <a:avLst/>
          </a:prstGeom>
          <a:noFill/>
          <a:ln>
            <a:noFill/>
          </a:ln>
        </p:spPr>
      </p:pic>
      <p:pic>
        <p:nvPicPr>
          <p:cNvPr id="161" name="Google Shape;161;p23"/>
          <p:cNvPicPr preferRelativeResize="0"/>
          <p:nvPr/>
        </p:nvPicPr>
        <p:blipFill rotWithShape="1">
          <a:blip r:embed="rId5"/>
          <a:srcRect/>
          <a:stretch>
            <a:fillRect/>
          </a:stretch>
        </p:blipFill>
        <p:spPr>
          <a:xfrm>
            <a:off x="16491334" y="147008"/>
            <a:ext cx="1621801" cy="1634181"/>
          </a:xfrm>
          <a:prstGeom prst="rect">
            <a:avLst/>
          </a:prstGeom>
          <a:noFill/>
          <a:ln>
            <a:noFill/>
          </a:ln>
        </p:spPr>
      </p:pic>
      <p:sp>
        <p:nvSpPr>
          <p:cNvPr id="162" name="Google Shape;162;p23"/>
          <p:cNvSpPr txBox="1"/>
          <p:nvPr/>
        </p:nvSpPr>
        <p:spPr>
          <a:xfrm>
            <a:off x="1252365" y="1973510"/>
            <a:ext cx="15783266" cy="729234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altLang="en-US" sz="2400" b="1" i="0" u="none" strike="noStrike" cap="none" dirty="0">
                <a:solidFill>
                  <a:srgbClr val="000000"/>
                </a:solidFill>
                <a:latin typeface="Arial" panose="020B0604020202020204"/>
                <a:ea typeface="Arial" panose="020B0604020202020204"/>
                <a:cs typeface="Arial" panose="020B0604020202020204"/>
                <a:sym typeface="Arial" panose="020B0604020202020204"/>
              </a:rPr>
              <a:t>General Objective</a:t>
            </a:r>
          </a:p>
          <a:p>
            <a:pPr marL="0" marR="0" lvl="0" indent="0" algn="l" rtl="0">
              <a:lnSpc>
                <a:spcPct val="150000"/>
              </a:lnSpc>
              <a:spcBef>
                <a:spcPts val="0"/>
              </a:spcBef>
              <a:spcAft>
                <a:spcPts val="0"/>
              </a:spcAft>
              <a:buNone/>
            </a:pPr>
            <a:r>
              <a:rPr lang="en-US" altLang="en-US" sz="2400" b="0" i="0" u="none" strike="noStrike" cap="none" dirty="0">
                <a:solidFill>
                  <a:srgbClr val="000000"/>
                </a:solidFill>
                <a:latin typeface="Arial" panose="020B0604020202020204"/>
                <a:ea typeface="Arial" panose="020B0604020202020204"/>
                <a:cs typeface="Arial" panose="020B0604020202020204"/>
                <a:sym typeface="Arial" panose="020B0604020202020204"/>
              </a:rPr>
              <a:t>	The primary objective of this study is to design, develop, and evaluate </a:t>
            </a:r>
            <a:r>
              <a:rPr lang="en-US" altLang="en-US" sz="2400" b="0" i="0" u="none" strike="noStrike" cap="none" dirty="0" err="1">
                <a:solidFill>
                  <a:srgbClr val="000000"/>
                </a:solidFill>
                <a:latin typeface="Arial" panose="020B0604020202020204"/>
                <a:ea typeface="Arial" panose="020B0604020202020204"/>
                <a:cs typeface="Arial" panose="020B0604020202020204"/>
                <a:sym typeface="Arial" panose="020B0604020202020204"/>
              </a:rPr>
              <a:t>EggPoint</a:t>
            </a:r>
            <a:r>
              <a:rPr lang="en-US" altLang="en-US" sz="2400" b="0" i="0" u="none" strike="noStrike" cap="none" dirty="0">
                <a:solidFill>
                  <a:srgbClr val="000000"/>
                </a:solidFill>
                <a:latin typeface="Arial" panose="020B0604020202020204"/>
                <a:ea typeface="Arial" panose="020B0604020202020204"/>
                <a:cs typeface="Arial" panose="020B0604020202020204"/>
                <a:sym typeface="Arial" panose="020B0604020202020204"/>
              </a:rPr>
              <a:t>, a lightweight Edge-AI system that uses computer vision and deep learning to process candling images of duck and quail eggs, classify duck eggs according to their 16-, 17-, and 18-day incubation stages, determine quail egg fertility, and record and summarize egg inspection results.</a:t>
            </a:r>
          </a:p>
          <a:p>
            <a:pPr marL="0" marR="0" lvl="0" indent="0" algn="l" rtl="0">
              <a:lnSpc>
                <a:spcPct val="150000"/>
              </a:lnSpc>
              <a:spcBef>
                <a:spcPts val="0"/>
              </a:spcBef>
              <a:spcAft>
                <a:spcPts val="0"/>
              </a:spcAft>
              <a:buNone/>
            </a:pPr>
            <a:endParaRPr lang="en-US" altLang="en-US" sz="2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50000"/>
              </a:lnSpc>
              <a:spcBef>
                <a:spcPts val="0"/>
              </a:spcBef>
              <a:spcAft>
                <a:spcPts val="0"/>
              </a:spcAft>
              <a:buNone/>
            </a:pPr>
            <a:r>
              <a:rPr lang="en-US" altLang="en-US" sz="2400" b="1" i="0" u="none" strike="noStrike" cap="none" dirty="0">
                <a:solidFill>
                  <a:srgbClr val="000000"/>
                </a:solidFill>
                <a:latin typeface="Arial" panose="020B0604020202020204"/>
                <a:ea typeface="Arial" panose="020B0604020202020204"/>
                <a:cs typeface="Arial" panose="020B0604020202020204"/>
                <a:sym typeface="Arial" panose="020B0604020202020204"/>
              </a:rPr>
              <a:t>Specific Objectives</a:t>
            </a:r>
          </a:p>
          <a:p>
            <a:pPr marL="0" marR="0" lvl="0" indent="0" algn="l" rtl="0">
              <a:lnSpc>
                <a:spcPct val="150000"/>
              </a:lnSpc>
              <a:spcBef>
                <a:spcPts val="0"/>
              </a:spcBef>
              <a:spcAft>
                <a:spcPts val="0"/>
              </a:spcAft>
              <a:buNone/>
            </a:pPr>
            <a:r>
              <a:rPr lang="en-US" altLang="en-US" sz="2400" b="0" i="0" u="none" strike="noStrike" cap="none" dirty="0">
                <a:solidFill>
                  <a:srgbClr val="000000"/>
                </a:solidFill>
                <a:latin typeface="Arial" panose="020B0604020202020204"/>
                <a:ea typeface="Arial" panose="020B0604020202020204"/>
                <a:cs typeface="Arial" panose="020B0604020202020204"/>
                <a:sym typeface="Arial" panose="020B0604020202020204"/>
              </a:rPr>
              <a:t>1.To design and develop a portable Edge-AI system capable of capturing and processing candling images of duck and quail eggs for automated inspection.</a:t>
            </a:r>
          </a:p>
          <a:p>
            <a:pPr marL="0" marR="0" lvl="0" indent="0" algn="l" rtl="0">
              <a:lnSpc>
                <a:spcPct val="150000"/>
              </a:lnSpc>
              <a:spcBef>
                <a:spcPts val="0"/>
              </a:spcBef>
              <a:spcAft>
                <a:spcPts val="0"/>
              </a:spcAft>
              <a:buNone/>
            </a:pPr>
            <a:r>
              <a:rPr lang="en-US" altLang="en-US" sz="2400" b="0" i="0" u="none" strike="noStrike" cap="none" dirty="0">
                <a:solidFill>
                  <a:srgbClr val="000000"/>
                </a:solidFill>
                <a:latin typeface="Arial" panose="020B0604020202020204"/>
                <a:ea typeface="Arial" panose="020B0604020202020204"/>
                <a:cs typeface="Arial" panose="020B0604020202020204"/>
                <a:sym typeface="Arial" panose="020B0604020202020204"/>
              </a:rPr>
              <a:t>2.To implement a deep-learning model for classifying duck eggs according to their 16-, 17-, and 18-day incubation stages and determining the fertility status of quail eggs using candling images.</a:t>
            </a:r>
          </a:p>
          <a:p>
            <a:pPr marL="0" marR="0" lvl="0" indent="0" algn="l" rtl="0">
              <a:lnSpc>
                <a:spcPct val="150000"/>
              </a:lnSpc>
              <a:spcBef>
                <a:spcPts val="0"/>
              </a:spcBef>
              <a:spcAft>
                <a:spcPts val="0"/>
              </a:spcAft>
              <a:buNone/>
            </a:pPr>
            <a:r>
              <a:rPr lang="en-US" altLang="en-US" sz="2400" b="0" i="0" u="none" strike="noStrike" cap="none" dirty="0">
                <a:solidFill>
                  <a:srgbClr val="000000"/>
                </a:solidFill>
                <a:latin typeface="Arial" panose="020B0604020202020204"/>
                <a:ea typeface="Arial" panose="020B0604020202020204"/>
                <a:cs typeface="Arial" panose="020B0604020202020204"/>
                <a:sym typeface="Arial" panose="020B0604020202020204"/>
              </a:rPr>
              <a:t>3.To evaluate the developed </a:t>
            </a:r>
            <a:r>
              <a:rPr lang="en-US" altLang="en-US" sz="2400" b="0" i="0" u="none" strike="noStrike" cap="none" dirty="0" err="1">
                <a:solidFill>
                  <a:srgbClr val="000000"/>
                </a:solidFill>
                <a:latin typeface="Arial" panose="020B0604020202020204"/>
                <a:ea typeface="Arial" panose="020B0604020202020204"/>
                <a:cs typeface="Arial" panose="020B0604020202020204"/>
                <a:sym typeface="Arial" panose="020B0604020202020204"/>
              </a:rPr>
              <a:t>EggPoint</a:t>
            </a:r>
            <a:r>
              <a:rPr lang="en-US" altLang="en-US" sz="2400" b="0" i="0" u="none" strike="noStrike" cap="none" dirty="0">
                <a:solidFill>
                  <a:srgbClr val="000000"/>
                </a:solidFill>
                <a:latin typeface="Arial" panose="020B0604020202020204"/>
                <a:ea typeface="Arial" panose="020B0604020202020204"/>
                <a:cs typeface="Arial" panose="020B0604020202020204"/>
                <a:sym typeface="Arial" panose="020B0604020202020204"/>
              </a:rPr>
              <a:t> system in terms of classification accuracy and its ability to record and summarize egg inspection.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2"/>
          <p:cNvSpPr/>
          <p:nvPr/>
        </p:nvSpPr>
        <p:spPr>
          <a:xfrm flipH="1">
            <a:off x="-1" y="-36437"/>
            <a:ext cx="18287999" cy="10287001"/>
          </a:xfrm>
          <a:custGeom>
            <a:avLst/>
            <a:gdLst/>
            <a:ahLst/>
            <a:cxnLst/>
            <a:rect l="l" t="t" r="r" b="b"/>
            <a:pathLst>
              <a:path w="20590706" h="11514063" extrusionOk="0">
                <a:moveTo>
                  <a:pt x="20590706" y="0"/>
                </a:moveTo>
                <a:lnTo>
                  <a:pt x="0" y="0"/>
                </a:lnTo>
                <a:lnTo>
                  <a:pt x="0" y="11514063"/>
                </a:lnTo>
                <a:lnTo>
                  <a:pt x="20590706" y="11514063"/>
                </a:lnTo>
                <a:lnTo>
                  <a:pt x="20590706" y="0"/>
                </a:lnTo>
                <a:close/>
              </a:path>
            </a:pathLst>
          </a:custGeom>
          <a:blipFill rotWithShape="1">
            <a:blip r:embed="rId3"/>
            <a:stretch>
              <a:fillRect t="-589"/>
            </a:stretch>
          </a:blipFill>
          <a:ln>
            <a:noFill/>
          </a:ln>
        </p:spPr>
        <p:txBody>
          <a:bodyPr/>
          <a:lstStyle/>
          <a:p>
            <a:endParaRPr lang="en-PH"/>
          </a:p>
        </p:txBody>
      </p:sp>
      <p:sp>
        <p:nvSpPr>
          <p:cNvPr id="297" name="Google Shape;297;p32"/>
          <p:cNvSpPr txBox="1"/>
          <p:nvPr/>
        </p:nvSpPr>
        <p:spPr>
          <a:xfrm>
            <a:off x="690055" y="909578"/>
            <a:ext cx="17145429" cy="757130"/>
          </a:xfrm>
          <a:prstGeom prst="rect">
            <a:avLst/>
          </a:prstGeom>
          <a:noFill/>
          <a:ln>
            <a:noFill/>
          </a:ln>
        </p:spPr>
        <p:txBody>
          <a:bodyPr spcFirstLastPara="1" wrap="square" lIns="0" tIns="0" rIns="0" bIns="0" anchor="t" anchorCtr="0">
            <a:spAutoFit/>
          </a:bodyPr>
          <a:lstStyle/>
          <a:p>
            <a:pPr marL="0" marR="0" lvl="0" indent="0" algn="l" rtl="0">
              <a:lnSpc>
                <a:spcPct val="123000"/>
              </a:lnSpc>
              <a:spcBef>
                <a:spcPts val="0"/>
              </a:spcBef>
              <a:spcAft>
                <a:spcPts val="0"/>
              </a:spcAft>
              <a:buClr>
                <a:srgbClr val="000000"/>
              </a:buClr>
              <a:buSzPts val="4000"/>
              <a:buFont typeface="Arial" panose="020B0604020202020204"/>
              <a:buNone/>
            </a:pPr>
            <a:r>
              <a:rPr lang="en-US" sz="4000" b="1" i="0" u="none" strike="noStrike" cap="none">
                <a:solidFill>
                  <a:srgbClr val="000000"/>
                </a:solidFill>
                <a:latin typeface="Century Gothic" panose="020B0502020202020204"/>
                <a:ea typeface="Century Gothic" panose="020B0502020202020204"/>
                <a:cs typeface="Century Gothic" panose="020B0502020202020204"/>
                <a:sym typeface="Century Gothic" panose="020B0502020202020204"/>
              </a:rPr>
              <a:t>METHODOLOGY</a:t>
            </a:r>
            <a:endParaRPr sz="10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298" name="Google Shape;298;p32"/>
          <p:cNvGrpSpPr/>
          <p:nvPr/>
        </p:nvGrpSpPr>
        <p:grpSpPr>
          <a:xfrm>
            <a:off x="818311" y="1735422"/>
            <a:ext cx="8211389" cy="256118"/>
            <a:chOff x="0" y="0"/>
            <a:chExt cx="10948519" cy="341491"/>
          </a:xfrm>
        </p:grpSpPr>
        <p:cxnSp>
          <p:nvCxnSpPr>
            <p:cNvPr id="299" name="Google Shape;299;p32"/>
            <p:cNvCxnSpPr/>
            <p:nvPr/>
          </p:nvCxnSpPr>
          <p:spPr>
            <a:xfrm>
              <a:off x="298669" y="170745"/>
              <a:ext cx="10308358" cy="0"/>
            </a:xfrm>
            <a:prstGeom prst="straightConnector1">
              <a:avLst/>
            </a:prstGeom>
            <a:noFill/>
            <a:ln w="50800" cap="flat" cmpd="sng">
              <a:solidFill>
                <a:srgbClr val="000000"/>
              </a:solidFill>
              <a:prstDash val="solid"/>
              <a:round/>
              <a:headEnd type="none" w="sm" len="sm"/>
              <a:tailEnd type="none" w="sm" len="sm"/>
            </a:ln>
          </p:spPr>
        </p:cxnSp>
        <p:grpSp>
          <p:nvGrpSpPr>
            <p:cNvPr id="300" name="Google Shape;300;p32"/>
            <p:cNvGrpSpPr/>
            <p:nvPr/>
          </p:nvGrpSpPr>
          <p:grpSpPr>
            <a:xfrm>
              <a:off x="10607028" y="0"/>
              <a:ext cx="341491" cy="341491"/>
              <a:chOff x="0" y="0"/>
              <a:chExt cx="812800" cy="812800"/>
            </a:xfrm>
          </p:grpSpPr>
          <p:sp>
            <p:nvSpPr>
              <p:cNvPr id="301" name="Google Shape;301;p3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2" name="Google Shape;302;p32"/>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303" name="Google Shape;303;p32"/>
            <p:cNvGrpSpPr/>
            <p:nvPr/>
          </p:nvGrpSpPr>
          <p:grpSpPr>
            <a:xfrm>
              <a:off x="0" y="0"/>
              <a:ext cx="341491" cy="341491"/>
              <a:chOff x="0" y="0"/>
              <a:chExt cx="812800" cy="812800"/>
            </a:xfrm>
          </p:grpSpPr>
          <p:sp>
            <p:nvSpPr>
              <p:cNvPr id="304" name="Google Shape;304;p3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5" name="Google Shape;305;p32"/>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pic>
        <p:nvPicPr>
          <p:cNvPr id="306" name="Google Shape;306;p32"/>
          <p:cNvPicPr preferRelativeResize="0"/>
          <p:nvPr/>
        </p:nvPicPr>
        <p:blipFill rotWithShape="1">
          <a:blip r:embed="rId4"/>
          <a:srcRect/>
          <a:stretch>
            <a:fillRect/>
          </a:stretch>
        </p:blipFill>
        <p:spPr>
          <a:xfrm>
            <a:off x="14666109" y="147008"/>
            <a:ext cx="1650361" cy="1634181"/>
          </a:xfrm>
          <a:prstGeom prst="rect">
            <a:avLst/>
          </a:prstGeom>
          <a:noFill/>
          <a:ln>
            <a:noFill/>
          </a:ln>
        </p:spPr>
      </p:pic>
      <p:pic>
        <p:nvPicPr>
          <p:cNvPr id="307" name="Google Shape;307;p32"/>
          <p:cNvPicPr preferRelativeResize="0"/>
          <p:nvPr/>
        </p:nvPicPr>
        <p:blipFill rotWithShape="1">
          <a:blip r:embed="rId5"/>
          <a:srcRect/>
          <a:stretch>
            <a:fillRect/>
          </a:stretch>
        </p:blipFill>
        <p:spPr>
          <a:xfrm>
            <a:off x="16491334" y="147008"/>
            <a:ext cx="1621801" cy="1634181"/>
          </a:xfrm>
          <a:prstGeom prst="rect">
            <a:avLst/>
          </a:prstGeom>
          <a:noFill/>
          <a:ln>
            <a:noFill/>
          </a:ln>
        </p:spPr>
      </p:pic>
      <p:sp>
        <p:nvSpPr>
          <p:cNvPr id="277" name="Text 0">
            <a:extLst>
              <a:ext uri="{FF2B5EF4-FFF2-40B4-BE49-F238E27FC236}">
                <a16:creationId xmlns:a16="http://schemas.microsoft.com/office/drawing/2014/main" id="{8C5DEA09-FB93-0478-6D77-4E5956DD3D9D}"/>
              </a:ext>
            </a:extLst>
          </p:cNvPr>
          <p:cNvSpPr/>
          <p:nvPr/>
        </p:nvSpPr>
        <p:spPr>
          <a:xfrm>
            <a:off x="1074429" y="2209657"/>
            <a:ext cx="10868745" cy="439241"/>
          </a:xfrm>
          <a:prstGeom prst="rect">
            <a:avLst/>
          </a:prstGeom>
          <a:noFill/>
          <a:ln/>
        </p:spPr>
        <p:txBody>
          <a:bodyPr wrap="none" lIns="0" tIns="0" rIns="0" bIns="0" rtlCol="0" anchor="t"/>
          <a:lstStyle/>
          <a:p>
            <a:pPr marL="0" indent="0" algn="l">
              <a:lnSpc>
                <a:spcPct val="104000"/>
              </a:lnSpc>
              <a:buNone/>
            </a:pPr>
            <a:r>
              <a:rPr lang="en-US" sz="2800" b="1" dirty="0">
                <a:solidFill>
                  <a:schemeClr val="tx1"/>
                </a:solidFill>
                <a:latin typeface="+mn-lt"/>
                <a:ea typeface="Bricolage Grotesque ExtraBold" pitchFamily="34" charset="-122"/>
                <a:cs typeface="Bricolage Grotesque ExtraBold" pitchFamily="34" charset="-120"/>
              </a:rPr>
              <a:t>Introduction</a:t>
            </a:r>
            <a:endParaRPr lang="en-US" sz="2800" b="1" dirty="0">
              <a:solidFill>
                <a:schemeClr val="tx1"/>
              </a:solidFill>
              <a:latin typeface="+mn-lt"/>
            </a:endParaRPr>
          </a:p>
        </p:txBody>
      </p:sp>
      <p:sp>
        <p:nvSpPr>
          <p:cNvPr id="279" name="Text 1">
            <a:extLst>
              <a:ext uri="{FF2B5EF4-FFF2-40B4-BE49-F238E27FC236}">
                <a16:creationId xmlns:a16="http://schemas.microsoft.com/office/drawing/2014/main" id="{41EF641F-A64B-8A84-2864-C1156D4F6104}"/>
              </a:ext>
            </a:extLst>
          </p:cNvPr>
          <p:cNvSpPr/>
          <p:nvPr/>
        </p:nvSpPr>
        <p:spPr>
          <a:xfrm>
            <a:off x="1074428" y="2774912"/>
            <a:ext cx="15957977" cy="624185"/>
          </a:xfrm>
          <a:prstGeom prst="rect">
            <a:avLst/>
          </a:prstGeom>
          <a:noFill/>
          <a:ln/>
        </p:spPr>
        <p:txBody>
          <a:bodyPr wrap="square" lIns="0" tIns="0" rIns="0" bIns="0" rtlCol="0" anchor="t">
            <a:noAutofit/>
          </a:bodyPr>
          <a:lstStyle/>
          <a:p>
            <a:pPr marL="0" indent="0" algn="just">
              <a:lnSpc>
                <a:spcPct val="123000"/>
              </a:lnSpc>
              <a:buNone/>
            </a:pPr>
            <a:r>
              <a:rPr lang="en-US" sz="2400" dirty="0">
                <a:solidFill>
                  <a:schemeClr val="tx1"/>
                </a:solidFill>
                <a:latin typeface="+mn-lt"/>
                <a:ea typeface="Montserrat" pitchFamily="34" charset="-122"/>
                <a:cs typeface="Montserrat" pitchFamily="34" charset="-120"/>
              </a:rPr>
              <a:t>This chapter presents the methodology used to develop and evaluate </a:t>
            </a:r>
            <a:r>
              <a:rPr lang="en-US" sz="2400" dirty="0">
                <a:solidFill>
                  <a:schemeClr val="tx1"/>
                </a:solidFill>
                <a:latin typeface="+mn-lt"/>
                <a:ea typeface="Montserrat Bold" pitchFamily="34" charset="-122"/>
                <a:cs typeface="Montserrat Bold" pitchFamily="34" charset="-120"/>
              </a:rPr>
              <a:t>EggPoint: A Lightweight Edge-AI System for the Automated Classification and Yield Summation of Mixed Species Poultry (Ducks and Quail)</a:t>
            </a:r>
            <a:r>
              <a:rPr lang="en-US" sz="2400" dirty="0">
                <a:solidFill>
                  <a:schemeClr val="tx1"/>
                </a:solidFill>
                <a:latin typeface="+mn-lt"/>
                <a:ea typeface="Montserrat" pitchFamily="34" charset="-122"/>
                <a:cs typeface="Montserrat" pitchFamily="34" charset="-120"/>
              </a:rPr>
              <a:t>. It describes the research design, system development, dataset collection, AI model training, system testing, and performance evaluation to ensure the proposed system achieves accurate and reliable egg classification.</a:t>
            </a:r>
            <a:endParaRPr lang="en-US" sz="2400" dirty="0">
              <a:solidFill>
                <a:schemeClr val="tx1"/>
              </a:solidFill>
              <a:latin typeface="+mn-lt"/>
            </a:endParaRPr>
          </a:p>
        </p:txBody>
      </p:sp>
      <p:sp>
        <p:nvSpPr>
          <p:cNvPr id="283" name="Text 2">
            <a:extLst>
              <a:ext uri="{FF2B5EF4-FFF2-40B4-BE49-F238E27FC236}">
                <a16:creationId xmlns:a16="http://schemas.microsoft.com/office/drawing/2014/main" id="{73BB574F-08BA-B077-4A6A-808DE4B1A484}"/>
              </a:ext>
            </a:extLst>
          </p:cNvPr>
          <p:cNvSpPr/>
          <p:nvPr/>
        </p:nvSpPr>
        <p:spPr>
          <a:xfrm>
            <a:off x="1405720" y="5050926"/>
            <a:ext cx="5669966" cy="219571"/>
          </a:xfrm>
          <a:prstGeom prst="rect">
            <a:avLst/>
          </a:prstGeom>
          <a:noFill/>
          <a:ln/>
        </p:spPr>
        <p:txBody>
          <a:bodyPr wrap="none" lIns="0" tIns="0" rIns="0" bIns="0" rtlCol="0" anchor="t"/>
          <a:lstStyle/>
          <a:p>
            <a:pPr marL="0" indent="0" algn="l">
              <a:lnSpc>
                <a:spcPct val="104000"/>
              </a:lnSpc>
              <a:buNone/>
            </a:pPr>
            <a:r>
              <a:rPr lang="en-US" sz="2400" b="1" dirty="0">
                <a:solidFill>
                  <a:schemeClr val="tx1"/>
                </a:solidFill>
                <a:latin typeface="+mn-lt"/>
                <a:ea typeface="Bricolage Grotesque ExtraBold" pitchFamily="34" charset="-122"/>
                <a:cs typeface="Bricolage Grotesque ExtraBold" pitchFamily="34" charset="-120"/>
              </a:rPr>
              <a:t>Research Design</a:t>
            </a:r>
            <a:endParaRPr lang="en-US" sz="2400" b="1" dirty="0">
              <a:solidFill>
                <a:schemeClr val="tx1"/>
              </a:solidFill>
              <a:latin typeface="+mn-lt"/>
            </a:endParaRPr>
          </a:p>
        </p:txBody>
      </p:sp>
      <p:sp>
        <p:nvSpPr>
          <p:cNvPr id="285" name="Text 3">
            <a:extLst>
              <a:ext uri="{FF2B5EF4-FFF2-40B4-BE49-F238E27FC236}">
                <a16:creationId xmlns:a16="http://schemas.microsoft.com/office/drawing/2014/main" id="{43CAC3A5-6E48-B13C-41AE-4C6B0D5177F6}"/>
              </a:ext>
            </a:extLst>
          </p:cNvPr>
          <p:cNvSpPr/>
          <p:nvPr/>
        </p:nvSpPr>
        <p:spPr>
          <a:xfrm>
            <a:off x="1756533" y="5595749"/>
            <a:ext cx="7810547" cy="520259"/>
          </a:xfrm>
          <a:prstGeom prst="rect">
            <a:avLst/>
          </a:prstGeom>
          <a:noFill/>
          <a:ln/>
        </p:spPr>
        <p:txBody>
          <a:bodyPr wrap="square" lIns="0" tIns="0" rIns="0" bIns="0" rtlCol="0" anchor="t">
            <a:noAutofit/>
          </a:bodyPr>
          <a:lstStyle/>
          <a:p>
            <a:pPr marL="0" indent="0" algn="l">
              <a:lnSpc>
                <a:spcPct val="123000"/>
              </a:lnSpc>
              <a:buNone/>
            </a:pPr>
            <a:r>
              <a:rPr lang="en-US" sz="2000" dirty="0">
                <a:solidFill>
                  <a:schemeClr val="tx1"/>
                </a:solidFill>
                <a:latin typeface="+mn-lt"/>
                <a:ea typeface="Montserrat" pitchFamily="34" charset="-122"/>
                <a:cs typeface="Montserrat" pitchFamily="34" charset="-120"/>
              </a:rPr>
              <a:t>Quantitative developmental research approach covering hardware, software, image-processing, and deep-learning components.</a:t>
            </a:r>
            <a:endParaRPr lang="en-US" sz="2000" dirty="0">
              <a:solidFill>
                <a:schemeClr val="tx1"/>
              </a:solidFill>
              <a:latin typeface="+mn-lt"/>
            </a:endParaRPr>
          </a:p>
        </p:txBody>
      </p:sp>
      <p:sp>
        <p:nvSpPr>
          <p:cNvPr id="289" name="Text 4">
            <a:extLst>
              <a:ext uri="{FF2B5EF4-FFF2-40B4-BE49-F238E27FC236}">
                <a16:creationId xmlns:a16="http://schemas.microsoft.com/office/drawing/2014/main" id="{32FF83C7-BF29-65DC-929F-A0E74A80AD1A}"/>
              </a:ext>
            </a:extLst>
          </p:cNvPr>
          <p:cNvSpPr/>
          <p:nvPr/>
        </p:nvSpPr>
        <p:spPr>
          <a:xfrm>
            <a:off x="10021413" y="5143500"/>
            <a:ext cx="5669966" cy="219571"/>
          </a:xfrm>
          <a:prstGeom prst="rect">
            <a:avLst/>
          </a:prstGeom>
          <a:noFill/>
          <a:ln/>
        </p:spPr>
        <p:txBody>
          <a:bodyPr wrap="none" lIns="0" tIns="0" rIns="0" bIns="0" rtlCol="0" anchor="t"/>
          <a:lstStyle/>
          <a:p>
            <a:pPr marL="0" indent="0" algn="l">
              <a:lnSpc>
                <a:spcPct val="104000"/>
              </a:lnSpc>
              <a:buNone/>
            </a:pPr>
            <a:r>
              <a:rPr lang="en-US" sz="2400" b="1" dirty="0">
                <a:solidFill>
                  <a:schemeClr val="tx1"/>
                </a:solidFill>
                <a:latin typeface="+mn-lt"/>
                <a:ea typeface="Bricolage Grotesque ExtraBold" pitchFamily="34" charset="-122"/>
                <a:cs typeface="Bricolage Grotesque ExtraBold" pitchFamily="34" charset="-120"/>
              </a:rPr>
              <a:t> Dataset Collection</a:t>
            </a:r>
            <a:endParaRPr lang="en-US" sz="2400" b="1" dirty="0">
              <a:solidFill>
                <a:schemeClr val="tx1"/>
              </a:solidFill>
              <a:latin typeface="+mn-lt"/>
            </a:endParaRPr>
          </a:p>
        </p:txBody>
      </p:sp>
      <p:sp>
        <p:nvSpPr>
          <p:cNvPr id="291" name="Text 5">
            <a:extLst>
              <a:ext uri="{FF2B5EF4-FFF2-40B4-BE49-F238E27FC236}">
                <a16:creationId xmlns:a16="http://schemas.microsoft.com/office/drawing/2014/main" id="{1F086494-D808-51CD-202A-6DDD3E9C1E51}"/>
              </a:ext>
            </a:extLst>
          </p:cNvPr>
          <p:cNvSpPr/>
          <p:nvPr/>
        </p:nvSpPr>
        <p:spPr>
          <a:xfrm>
            <a:off x="10372950" y="5599753"/>
            <a:ext cx="6851473" cy="416123"/>
          </a:xfrm>
          <a:prstGeom prst="rect">
            <a:avLst/>
          </a:prstGeom>
          <a:noFill/>
          <a:ln/>
        </p:spPr>
        <p:txBody>
          <a:bodyPr wrap="square" lIns="0" tIns="0" rIns="0" bIns="0" rtlCol="0" anchor="t">
            <a:noAutofit/>
          </a:bodyPr>
          <a:lstStyle/>
          <a:p>
            <a:pPr marL="0" indent="0" algn="l">
              <a:lnSpc>
                <a:spcPct val="123000"/>
              </a:lnSpc>
              <a:buNone/>
            </a:pPr>
            <a:r>
              <a:rPr lang="en-US" sz="2000" dirty="0">
                <a:solidFill>
                  <a:schemeClr val="tx1"/>
                </a:solidFill>
                <a:latin typeface="+mn-lt"/>
                <a:ea typeface="Montserrat" pitchFamily="34" charset="-122"/>
                <a:cs typeface="Montserrat" pitchFamily="34" charset="-120"/>
              </a:rPr>
              <a:t>Labeled candling image datasets for duck eggs (Days 16, 17, 18) and quail eggs (fertile and infertile).</a:t>
            </a:r>
            <a:endParaRPr lang="en-US" sz="2000" dirty="0">
              <a:solidFill>
                <a:schemeClr val="tx1"/>
              </a:solidFill>
              <a:latin typeface="+mn-lt"/>
            </a:endParaRPr>
          </a:p>
        </p:txBody>
      </p:sp>
      <p:sp>
        <p:nvSpPr>
          <p:cNvPr id="295" name="Text 6">
            <a:extLst>
              <a:ext uri="{FF2B5EF4-FFF2-40B4-BE49-F238E27FC236}">
                <a16:creationId xmlns:a16="http://schemas.microsoft.com/office/drawing/2014/main" id="{EB7DD1D6-3FB7-89C3-D89E-B98EEF6F0FC9}"/>
              </a:ext>
            </a:extLst>
          </p:cNvPr>
          <p:cNvSpPr/>
          <p:nvPr/>
        </p:nvSpPr>
        <p:spPr>
          <a:xfrm>
            <a:off x="1405720" y="6766512"/>
            <a:ext cx="5669966" cy="219571"/>
          </a:xfrm>
          <a:prstGeom prst="rect">
            <a:avLst/>
          </a:prstGeom>
          <a:noFill/>
          <a:ln/>
        </p:spPr>
        <p:txBody>
          <a:bodyPr wrap="none" lIns="0" tIns="0" rIns="0" bIns="0" rtlCol="0" anchor="t"/>
          <a:lstStyle/>
          <a:p>
            <a:pPr marL="0" indent="0" algn="l">
              <a:lnSpc>
                <a:spcPct val="104000"/>
              </a:lnSpc>
              <a:buNone/>
            </a:pPr>
            <a:r>
              <a:rPr lang="en-US" sz="2400" b="1" dirty="0">
                <a:solidFill>
                  <a:schemeClr val="tx1"/>
                </a:solidFill>
                <a:latin typeface="+mn-lt"/>
                <a:ea typeface="Bricolage Grotesque ExtraBold" pitchFamily="34" charset="-122"/>
                <a:cs typeface="Bricolage Grotesque ExtraBold" pitchFamily="34" charset="-120"/>
              </a:rPr>
              <a:t>AI Model Training</a:t>
            </a:r>
            <a:endParaRPr lang="en-US" sz="2400" b="1" dirty="0">
              <a:solidFill>
                <a:schemeClr val="tx1"/>
              </a:solidFill>
              <a:latin typeface="+mn-lt"/>
            </a:endParaRPr>
          </a:p>
        </p:txBody>
      </p:sp>
      <p:sp>
        <p:nvSpPr>
          <p:cNvPr id="310" name="Text 7">
            <a:extLst>
              <a:ext uri="{FF2B5EF4-FFF2-40B4-BE49-F238E27FC236}">
                <a16:creationId xmlns:a16="http://schemas.microsoft.com/office/drawing/2014/main" id="{179FEC62-E768-0CB5-B270-AC7B1BCB6010}"/>
              </a:ext>
            </a:extLst>
          </p:cNvPr>
          <p:cNvSpPr/>
          <p:nvPr/>
        </p:nvSpPr>
        <p:spPr>
          <a:xfrm>
            <a:off x="1756533" y="7287447"/>
            <a:ext cx="8003331" cy="535336"/>
          </a:xfrm>
          <a:prstGeom prst="rect">
            <a:avLst/>
          </a:prstGeom>
          <a:noFill/>
          <a:ln/>
        </p:spPr>
        <p:txBody>
          <a:bodyPr wrap="square" lIns="0" tIns="0" rIns="0" bIns="0" rtlCol="0" anchor="t">
            <a:noAutofit/>
          </a:bodyPr>
          <a:lstStyle/>
          <a:p>
            <a:pPr marL="0" indent="0" algn="l">
              <a:lnSpc>
                <a:spcPct val="123000"/>
              </a:lnSpc>
              <a:buNone/>
            </a:pPr>
            <a:r>
              <a:rPr lang="en-US" sz="2000" dirty="0">
                <a:solidFill>
                  <a:schemeClr val="tx1"/>
                </a:solidFill>
                <a:latin typeface="+mn-lt"/>
                <a:ea typeface="Montserrat" pitchFamily="34" charset="-122"/>
                <a:cs typeface="Montserrat" pitchFamily="34" charset="-120"/>
              </a:rPr>
              <a:t>Lightweight deep learning model trained and deployed for on-device classification via Edge-AI processing.</a:t>
            </a:r>
            <a:endParaRPr lang="en-US" sz="2000" dirty="0">
              <a:solidFill>
                <a:schemeClr val="tx1"/>
              </a:solidFill>
              <a:latin typeface="+mn-lt"/>
            </a:endParaRPr>
          </a:p>
        </p:txBody>
      </p:sp>
      <p:sp>
        <p:nvSpPr>
          <p:cNvPr id="315" name="Text 8">
            <a:extLst>
              <a:ext uri="{FF2B5EF4-FFF2-40B4-BE49-F238E27FC236}">
                <a16:creationId xmlns:a16="http://schemas.microsoft.com/office/drawing/2014/main" id="{C78D691B-ED04-5D9A-FFC0-A8E1C53007EF}"/>
              </a:ext>
            </a:extLst>
          </p:cNvPr>
          <p:cNvSpPr/>
          <p:nvPr/>
        </p:nvSpPr>
        <p:spPr>
          <a:xfrm>
            <a:off x="10021413" y="6766512"/>
            <a:ext cx="5669966" cy="219571"/>
          </a:xfrm>
          <a:prstGeom prst="rect">
            <a:avLst/>
          </a:prstGeom>
          <a:noFill/>
          <a:ln/>
        </p:spPr>
        <p:txBody>
          <a:bodyPr wrap="none" lIns="0" tIns="0" rIns="0" bIns="0" rtlCol="0" anchor="t"/>
          <a:lstStyle/>
          <a:p>
            <a:pPr marL="0" indent="0" algn="l">
              <a:lnSpc>
                <a:spcPct val="104000"/>
              </a:lnSpc>
              <a:buNone/>
            </a:pPr>
            <a:r>
              <a:rPr lang="en-US" sz="2400" b="1" dirty="0">
                <a:solidFill>
                  <a:schemeClr val="tx1"/>
                </a:solidFill>
                <a:latin typeface="+mn-lt"/>
                <a:ea typeface="Bricolage Grotesque ExtraBold" pitchFamily="34" charset="-122"/>
                <a:cs typeface="Bricolage Grotesque ExtraBold" pitchFamily="34" charset="-120"/>
              </a:rPr>
              <a:t>Performance Evaluation</a:t>
            </a:r>
            <a:endParaRPr lang="en-US" sz="2400" b="1" dirty="0">
              <a:solidFill>
                <a:schemeClr val="tx1"/>
              </a:solidFill>
              <a:latin typeface="+mn-lt"/>
            </a:endParaRPr>
          </a:p>
        </p:txBody>
      </p:sp>
      <p:sp>
        <p:nvSpPr>
          <p:cNvPr id="317" name="Text 9">
            <a:extLst>
              <a:ext uri="{FF2B5EF4-FFF2-40B4-BE49-F238E27FC236}">
                <a16:creationId xmlns:a16="http://schemas.microsoft.com/office/drawing/2014/main" id="{6E22DE28-D212-1A3A-72DF-07639BB61576}"/>
              </a:ext>
            </a:extLst>
          </p:cNvPr>
          <p:cNvSpPr/>
          <p:nvPr/>
        </p:nvSpPr>
        <p:spPr>
          <a:xfrm>
            <a:off x="10372951" y="7360889"/>
            <a:ext cx="6851473" cy="416123"/>
          </a:xfrm>
          <a:prstGeom prst="rect">
            <a:avLst/>
          </a:prstGeom>
          <a:noFill/>
          <a:ln/>
        </p:spPr>
        <p:txBody>
          <a:bodyPr wrap="square" lIns="0" tIns="0" rIns="0" bIns="0" rtlCol="0" anchor="t">
            <a:noAutofit/>
          </a:bodyPr>
          <a:lstStyle/>
          <a:p>
            <a:pPr marL="0" indent="0" algn="l">
              <a:lnSpc>
                <a:spcPct val="123000"/>
              </a:lnSpc>
              <a:buNone/>
            </a:pPr>
            <a:r>
              <a:rPr lang="en-US" sz="2000" dirty="0">
                <a:solidFill>
                  <a:schemeClr val="tx1"/>
                </a:solidFill>
                <a:latin typeface="+mn-lt"/>
                <a:ea typeface="Montserrat" pitchFamily="34" charset="-122"/>
                <a:cs typeface="Montserrat" pitchFamily="34" charset="-120"/>
              </a:rPr>
              <a:t>Classification accuracy and yield-recording performance measured through controlled experimental testing.</a:t>
            </a:r>
            <a:endParaRPr lang="en-US" sz="2000" dirty="0">
              <a:solidFill>
                <a:schemeClr val="tx1"/>
              </a:solidFill>
              <a:latin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E73C595D-927A-394C-F46C-FD5FA4729155}"/>
            </a:ext>
          </a:extLst>
        </p:cNvPr>
        <p:cNvGrpSpPr/>
        <p:nvPr/>
      </p:nvGrpSpPr>
      <p:grpSpPr>
        <a:xfrm>
          <a:off x="0" y="0"/>
          <a:ext cx="0" cy="0"/>
          <a:chOff x="0" y="0"/>
          <a:chExt cx="0" cy="0"/>
        </a:xfrm>
      </p:grpSpPr>
      <p:sp>
        <p:nvSpPr>
          <p:cNvPr id="296" name="Google Shape;296;p32">
            <a:extLst>
              <a:ext uri="{FF2B5EF4-FFF2-40B4-BE49-F238E27FC236}">
                <a16:creationId xmlns:a16="http://schemas.microsoft.com/office/drawing/2014/main" id="{4C3DD1BA-BCCA-16DF-F9E4-F0C7EA902CAE}"/>
              </a:ext>
            </a:extLst>
          </p:cNvPr>
          <p:cNvSpPr/>
          <p:nvPr/>
        </p:nvSpPr>
        <p:spPr>
          <a:xfrm flipH="1">
            <a:off x="-1" y="-36437"/>
            <a:ext cx="18287999" cy="10287001"/>
          </a:xfrm>
          <a:custGeom>
            <a:avLst/>
            <a:gdLst/>
            <a:ahLst/>
            <a:cxnLst/>
            <a:rect l="l" t="t" r="r" b="b"/>
            <a:pathLst>
              <a:path w="20590706" h="11514063" extrusionOk="0">
                <a:moveTo>
                  <a:pt x="20590706" y="0"/>
                </a:moveTo>
                <a:lnTo>
                  <a:pt x="0" y="0"/>
                </a:lnTo>
                <a:lnTo>
                  <a:pt x="0" y="11514063"/>
                </a:lnTo>
                <a:lnTo>
                  <a:pt x="20590706" y="11514063"/>
                </a:lnTo>
                <a:lnTo>
                  <a:pt x="20590706" y="0"/>
                </a:lnTo>
                <a:close/>
              </a:path>
            </a:pathLst>
          </a:custGeom>
          <a:blipFill rotWithShape="1">
            <a:blip r:embed="rId3"/>
            <a:stretch>
              <a:fillRect t="-589"/>
            </a:stretch>
          </a:blipFill>
          <a:ln>
            <a:noFill/>
          </a:ln>
        </p:spPr>
        <p:txBody>
          <a:bodyPr/>
          <a:lstStyle/>
          <a:p>
            <a:endParaRPr lang="en-PH"/>
          </a:p>
        </p:txBody>
      </p:sp>
      <p:grpSp>
        <p:nvGrpSpPr>
          <p:cNvPr id="298" name="Google Shape;298;p32">
            <a:extLst>
              <a:ext uri="{FF2B5EF4-FFF2-40B4-BE49-F238E27FC236}">
                <a16:creationId xmlns:a16="http://schemas.microsoft.com/office/drawing/2014/main" id="{B6DAD1A4-1D02-AC84-3F2F-7F2160903256}"/>
              </a:ext>
            </a:extLst>
          </p:cNvPr>
          <p:cNvGrpSpPr/>
          <p:nvPr/>
        </p:nvGrpSpPr>
        <p:grpSpPr>
          <a:xfrm>
            <a:off x="818311" y="1735422"/>
            <a:ext cx="8211389" cy="256118"/>
            <a:chOff x="0" y="0"/>
            <a:chExt cx="10948519" cy="341491"/>
          </a:xfrm>
        </p:grpSpPr>
        <p:cxnSp>
          <p:nvCxnSpPr>
            <p:cNvPr id="299" name="Google Shape;299;p32">
              <a:extLst>
                <a:ext uri="{FF2B5EF4-FFF2-40B4-BE49-F238E27FC236}">
                  <a16:creationId xmlns:a16="http://schemas.microsoft.com/office/drawing/2014/main" id="{235183FF-7CC8-5AD8-4D9A-DCF5457CD479}"/>
                </a:ext>
              </a:extLst>
            </p:cNvPr>
            <p:cNvCxnSpPr/>
            <p:nvPr/>
          </p:nvCxnSpPr>
          <p:spPr>
            <a:xfrm>
              <a:off x="298669" y="170745"/>
              <a:ext cx="10308358" cy="0"/>
            </a:xfrm>
            <a:prstGeom prst="straightConnector1">
              <a:avLst/>
            </a:prstGeom>
            <a:noFill/>
            <a:ln w="50800" cap="flat" cmpd="sng">
              <a:solidFill>
                <a:srgbClr val="000000"/>
              </a:solidFill>
              <a:prstDash val="solid"/>
              <a:round/>
              <a:headEnd type="none" w="sm" len="sm"/>
              <a:tailEnd type="none" w="sm" len="sm"/>
            </a:ln>
          </p:spPr>
        </p:cxnSp>
        <p:grpSp>
          <p:nvGrpSpPr>
            <p:cNvPr id="300" name="Google Shape;300;p32">
              <a:extLst>
                <a:ext uri="{FF2B5EF4-FFF2-40B4-BE49-F238E27FC236}">
                  <a16:creationId xmlns:a16="http://schemas.microsoft.com/office/drawing/2014/main" id="{7ED35CE4-F063-D84B-AE66-56032745B531}"/>
                </a:ext>
              </a:extLst>
            </p:cNvPr>
            <p:cNvGrpSpPr/>
            <p:nvPr/>
          </p:nvGrpSpPr>
          <p:grpSpPr>
            <a:xfrm>
              <a:off x="10607028" y="0"/>
              <a:ext cx="341491" cy="341491"/>
              <a:chOff x="0" y="0"/>
              <a:chExt cx="812800" cy="812800"/>
            </a:xfrm>
          </p:grpSpPr>
          <p:sp>
            <p:nvSpPr>
              <p:cNvPr id="301" name="Google Shape;301;p32">
                <a:extLst>
                  <a:ext uri="{FF2B5EF4-FFF2-40B4-BE49-F238E27FC236}">
                    <a16:creationId xmlns:a16="http://schemas.microsoft.com/office/drawing/2014/main" id="{DA680807-65B2-CD20-D56D-6A60BE7878F3}"/>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2" name="Google Shape;302;p32">
                <a:extLst>
                  <a:ext uri="{FF2B5EF4-FFF2-40B4-BE49-F238E27FC236}">
                    <a16:creationId xmlns:a16="http://schemas.microsoft.com/office/drawing/2014/main" id="{1361DA40-9ABE-7D5D-7194-B527244D0F5C}"/>
                  </a:ext>
                </a:extLst>
              </p:cNvPr>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303" name="Google Shape;303;p32">
              <a:extLst>
                <a:ext uri="{FF2B5EF4-FFF2-40B4-BE49-F238E27FC236}">
                  <a16:creationId xmlns:a16="http://schemas.microsoft.com/office/drawing/2014/main" id="{E37DBDB7-3A1D-213B-C337-090A716F738E}"/>
                </a:ext>
              </a:extLst>
            </p:cNvPr>
            <p:cNvGrpSpPr/>
            <p:nvPr/>
          </p:nvGrpSpPr>
          <p:grpSpPr>
            <a:xfrm>
              <a:off x="0" y="0"/>
              <a:ext cx="341491" cy="341491"/>
              <a:chOff x="0" y="0"/>
              <a:chExt cx="812800" cy="812800"/>
            </a:xfrm>
          </p:grpSpPr>
          <p:sp>
            <p:nvSpPr>
              <p:cNvPr id="304" name="Google Shape;304;p32">
                <a:extLst>
                  <a:ext uri="{FF2B5EF4-FFF2-40B4-BE49-F238E27FC236}">
                    <a16:creationId xmlns:a16="http://schemas.microsoft.com/office/drawing/2014/main" id="{1EBC7089-975B-B19D-E67C-E0BFC5AEA01B}"/>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5" name="Google Shape;305;p32">
                <a:extLst>
                  <a:ext uri="{FF2B5EF4-FFF2-40B4-BE49-F238E27FC236}">
                    <a16:creationId xmlns:a16="http://schemas.microsoft.com/office/drawing/2014/main" id="{612BA3AE-F242-C9C8-7497-2984062A8DD4}"/>
                  </a:ext>
                </a:extLst>
              </p:cNvPr>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pic>
        <p:nvPicPr>
          <p:cNvPr id="306" name="Google Shape;306;p32">
            <a:extLst>
              <a:ext uri="{FF2B5EF4-FFF2-40B4-BE49-F238E27FC236}">
                <a16:creationId xmlns:a16="http://schemas.microsoft.com/office/drawing/2014/main" id="{1379BFE6-E021-10D7-13BC-141008D25375}"/>
              </a:ext>
            </a:extLst>
          </p:cNvPr>
          <p:cNvPicPr preferRelativeResize="0"/>
          <p:nvPr/>
        </p:nvPicPr>
        <p:blipFill rotWithShape="1">
          <a:blip r:embed="rId4"/>
          <a:srcRect/>
          <a:stretch>
            <a:fillRect/>
          </a:stretch>
        </p:blipFill>
        <p:spPr>
          <a:xfrm>
            <a:off x="14666109" y="147008"/>
            <a:ext cx="1650361" cy="1634181"/>
          </a:xfrm>
          <a:prstGeom prst="rect">
            <a:avLst/>
          </a:prstGeom>
          <a:noFill/>
          <a:ln>
            <a:noFill/>
          </a:ln>
        </p:spPr>
      </p:pic>
      <p:pic>
        <p:nvPicPr>
          <p:cNvPr id="307" name="Google Shape;307;p32">
            <a:extLst>
              <a:ext uri="{FF2B5EF4-FFF2-40B4-BE49-F238E27FC236}">
                <a16:creationId xmlns:a16="http://schemas.microsoft.com/office/drawing/2014/main" id="{AE0425AC-4DAD-C337-3625-2A89124E790B}"/>
              </a:ext>
            </a:extLst>
          </p:cNvPr>
          <p:cNvPicPr preferRelativeResize="0"/>
          <p:nvPr/>
        </p:nvPicPr>
        <p:blipFill rotWithShape="1">
          <a:blip r:embed="rId5"/>
          <a:srcRect/>
          <a:stretch>
            <a:fillRect/>
          </a:stretch>
        </p:blipFill>
        <p:spPr>
          <a:xfrm>
            <a:off x="16491334" y="147008"/>
            <a:ext cx="1621801" cy="1634181"/>
          </a:xfrm>
          <a:prstGeom prst="rect">
            <a:avLst/>
          </a:prstGeom>
          <a:noFill/>
          <a:ln>
            <a:noFill/>
          </a:ln>
        </p:spPr>
      </p:pic>
      <p:sp>
        <p:nvSpPr>
          <p:cNvPr id="309" name="Google Shape;309;p32">
            <a:extLst>
              <a:ext uri="{FF2B5EF4-FFF2-40B4-BE49-F238E27FC236}">
                <a16:creationId xmlns:a16="http://schemas.microsoft.com/office/drawing/2014/main" id="{02F2CE98-0B9C-BDF6-C033-EC402FC601FF}"/>
              </a:ext>
            </a:extLst>
          </p:cNvPr>
          <p:cNvSpPr txBox="1"/>
          <p:nvPr/>
        </p:nvSpPr>
        <p:spPr>
          <a:xfrm>
            <a:off x="1042313" y="1156690"/>
            <a:ext cx="6358762"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000000"/>
                </a:solidFill>
                <a:latin typeface="Arial" panose="020B0604020202020204"/>
                <a:ea typeface="Arial" panose="020B0604020202020204"/>
                <a:cs typeface="Arial" panose="020B0604020202020204"/>
                <a:sym typeface="Arial" panose="020B0604020202020204"/>
              </a:rPr>
              <a:t>Research Process Flowchart</a:t>
            </a:r>
          </a:p>
        </p:txBody>
      </p:sp>
      <p:pic>
        <p:nvPicPr>
          <p:cNvPr id="3" name="Picture 2">
            <a:extLst>
              <a:ext uri="{FF2B5EF4-FFF2-40B4-BE49-F238E27FC236}">
                <a16:creationId xmlns:a16="http://schemas.microsoft.com/office/drawing/2014/main" id="{042BDD23-B510-13AA-B903-13E0E718A46B}"/>
              </a:ext>
            </a:extLst>
          </p:cNvPr>
          <p:cNvPicPr>
            <a:picLocks noChangeAspect="1"/>
          </p:cNvPicPr>
          <p:nvPr/>
        </p:nvPicPr>
        <p:blipFill>
          <a:blip r:embed="rId6"/>
          <a:srcRect l="11411" t="3713" r="5527" b="2231"/>
          <a:stretch>
            <a:fillRect/>
          </a:stretch>
        </p:blipFill>
        <p:spPr>
          <a:xfrm>
            <a:off x="11026071" y="1781189"/>
            <a:ext cx="4981716" cy="7145104"/>
          </a:xfrm>
          <a:prstGeom prst="rect">
            <a:avLst/>
          </a:prstGeom>
        </p:spPr>
      </p:pic>
      <p:sp>
        <p:nvSpPr>
          <p:cNvPr id="7" name="TextBox 6">
            <a:extLst>
              <a:ext uri="{FF2B5EF4-FFF2-40B4-BE49-F238E27FC236}">
                <a16:creationId xmlns:a16="http://schemas.microsoft.com/office/drawing/2014/main" id="{2254BCB4-BD45-F20F-843C-BE458194E7D2}"/>
              </a:ext>
            </a:extLst>
          </p:cNvPr>
          <p:cNvSpPr txBox="1"/>
          <p:nvPr/>
        </p:nvSpPr>
        <p:spPr>
          <a:xfrm>
            <a:off x="1042312" y="2570272"/>
            <a:ext cx="9675075" cy="5536837"/>
          </a:xfrm>
          <a:prstGeom prst="rect">
            <a:avLst/>
          </a:prstGeom>
          <a:noFill/>
        </p:spPr>
        <p:txBody>
          <a:bodyPr wrap="square">
            <a:spAutoFit/>
          </a:bodyPr>
          <a:lstStyle/>
          <a:p>
            <a:pPr marL="0" indent="0" algn="just">
              <a:lnSpc>
                <a:spcPct val="200000"/>
              </a:lnSpc>
              <a:buNone/>
            </a:pPr>
            <a:r>
              <a:rPr lang="en-US" sz="2000" b="1" dirty="0">
                <a:solidFill>
                  <a:schemeClr val="tx1"/>
                </a:solidFill>
                <a:latin typeface="+mn-lt"/>
                <a:ea typeface="Montserrat" pitchFamily="34" charset="-122"/>
                <a:cs typeface="Montserrat" pitchFamily="34" charset="-120"/>
              </a:rPr>
              <a:t>The research follows a structured process beginning with </a:t>
            </a:r>
            <a:r>
              <a:rPr lang="en-US" sz="2000" b="1" dirty="0">
                <a:solidFill>
                  <a:schemeClr val="tx1"/>
                </a:solidFill>
                <a:latin typeface="+mn-lt"/>
                <a:ea typeface="Montserrat Bold" pitchFamily="34" charset="-122"/>
                <a:cs typeface="Montserrat Bold" pitchFamily="34" charset="-120"/>
              </a:rPr>
              <a:t>Problem Definition</a:t>
            </a:r>
            <a:r>
              <a:rPr lang="en-US" sz="2000" b="1" dirty="0">
                <a:solidFill>
                  <a:schemeClr val="tx1"/>
                </a:solidFill>
                <a:latin typeface="+mn-lt"/>
                <a:ea typeface="Montserrat" pitchFamily="34" charset="-122"/>
                <a:cs typeface="Montserrat" pitchFamily="34" charset="-120"/>
              </a:rPr>
              <a:t>, followed by </a:t>
            </a:r>
            <a:r>
              <a:rPr lang="en-US" sz="2000" b="1" dirty="0">
                <a:solidFill>
                  <a:schemeClr val="tx1"/>
                </a:solidFill>
                <a:latin typeface="+mn-lt"/>
                <a:ea typeface="Montserrat Bold" pitchFamily="34" charset="-122"/>
                <a:cs typeface="Montserrat Bold" pitchFamily="34" charset="-120"/>
              </a:rPr>
              <a:t>Research Design and Methodology</a:t>
            </a:r>
            <a:r>
              <a:rPr lang="en-US" sz="2000" b="1" dirty="0">
                <a:solidFill>
                  <a:schemeClr val="tx1"/>
                </a:solidFill>
                <a:latin typeface="+mn-lt"/>
                <a:ea typeface="Montserrat" pitchFamily="34" charset="-122"/>
                <a:cs typeface="Montserrat" pitchFamily="34" charset="-120"/>
              </a:rPr>
              <a:t>. The project then proceeds into two parallel activities: </a:t>
            </a:r>
            <a:r>
              <a:rPr lang="en-US" sz="2000" b="1" dirty="0">
                <a:solidFill>
                  <a:schemeClr val="tx1"/>
                </a:solidFill>
                <a:latin typeface="+mn-lt"/>
                <a:ea typeface="Montserrat Bold" pitchFamily="34" charset="-122"/>
                <a:cs typeface="Montserrat Bold" pitchFamily="34" charset="-120"/>
              </a:rPr>
              <a:t>Dataset Collection</a:t>
            </a:r>
            <a:r>
              <a:rPr lang="en-US" sz="2000" b="1" dirty="0">
                <a:solidFill>
                  <a:schemeClr val="tx1"/>
                </a:solidFill>
                <a:latin typeface="+mn-lt"/>
                <a:ea typeface="Montserrat" pitchFamily="34" charset="-122"/>
                <a:cs typeface="Montserrat" pitchFamily="34" charset="-120"/>
              </a:rPr>
              <a:t> (duck eggs Days 16, 17, and 18; quail eggs fertile and infertile) and </a:t>
            </a:r>
            <a:r>
              <a:rPr lang="en-US" sz="2000" b="1" dirty="0">
                <a:solidFill>
                  <a:schemeClr val="tx1"/>
                </a:solidFill>
                <a:latin typeface="+mn-lt"/>
                <a:ea typeface="Montserrat Bold" pitchFamily="34" charset="-122"/>
                <a:cs typeface="Montserrat Bold" pitchFamily="34" charset="-120"/>
              </a:rPr>
              <a:t>Hardware and Software Development</a:t>
            </a:r>
            <a:r>
              <a:rPr lang="en-US" sz="2000" b="1" dirty="0">
                <a:solidFill>
                  <a:schemeClr val="tx1"/>
                </a:solidFill>
                <a:latin typeface="+mn-lt"/>
                <a:ea typeface="Montserrat" pitchFamily="34" charset="-122"/>
                <a:cs typeface="Montserrat" pitchFamily="34" charset="-120"/>
              </a:rPr>
              <a:t>. These phases converge in </a:t>
            </a:r>
            <a:r>
              <a:rPr lang="en-US" sz="2000" b="1" dirty="0">
                <a:solidFill>
                  <a:schemeClr val="tx1"/>
                </a:solidFill>
                <a:latin typeface="+mn-lt"/>
                <a:ea typeface="Montserrat Bold" pitchFamily="34" charset="-122"/>
                <a:cs typeface="Montserrat Bold" pitchFamily="34" charset="-120"/>
              </a:rPr>
              <a:t>AI Model Development and Training</a:t>
            </a:r>
            <a:r>
              <a:rPr lang="en-US" sz="2000" b="1" dirty="0">
                <a:solidFill>
                  <a:schemeClr val="tx1"/>
                </a:solidFill>
                <a:latin typeface="+mn-lt"/>
                <a:ea typeface="Montserrat" pitchFamily="34" charset="-122"/>
                <a:cs typeface="Montserrat" pitchFamily="34" charset="-120"/>
              </a:rPr>
              <a:t>, followed by </a:t>
            </a:r>
            <a:r>
              <a:rPr lang="en-US" sz="2000" b="1" dirty="0">
                <a:solidFill>
                  <a:schemeClr val="tx1"/>
                </a:solidFill>
                <a:latin typeface="+mn-lt"/>
                <a:ea typeface="Montserrat Bold" pitchFamily="34" charset="-122"/>
                <a:cs typeface="Montserrat Bold" pitchFamily="34" charset="-120"/>
              </a:rPr>
              <a:t>System Integration and Bench Testing</a:t>
            </a:r>
            <a:r>
              <a:rPr lang="en-US" sz="2000" b="1" dirty="0">
                <a:solidFill>
                  <a:schemeClr val="tx1"/>
                </a:solidFill>
                <a:latin typeface="+mn-lt"/>
                <a:ea typeface="Montserrat" pitchFamily="34" charset="-122"/>
                <a:cs typeface="Montserrat" pitchFamily="34" charset="-120"/>
              </a:rPr>
              <a:t>, </a:t>
            </a:r>
            <a:r>
              <a:rPr lang="en-US" sz="2000" b="1" dirty="0">
                <a:solidFill>
                  <a:schemeClr val="tx1"/>
                </a:solidFill>
                <a:latin typeface="+mn-lt"/>
                <a:ea typeface="Montserrat Bold" pitchFamily="34" charset="-122"/>
                <a:cs typeface="Montserrat Bold" pitchFamily="34" charset="-120"/>
              </a:rPr>
              <a:t>Experimental Testing</a:t>
            </a:r>
            <a:r>
              <a:rPr lang="en-US" sz="2000" b="1" dirty="0">
                <a:solidFill>
                  <a:schemeClr val="tx1"/>
                </a:solidFill>
                <a:latin typeface="+mn-lt"/>
                <a:ea typeface="Montserrat" pitchFamily="34" charset="-122"/>
                <a:cs typeface="Montserrat" pitchFamily="34" charset="-120"/>
              </a:rPr>
              <a:t>, </a:t>
            </a:r>
            <a:r>
              <a:rPr lang="en-US" sz="2000" b="1" dirty="0">
                <a:solidFill>
                  <a:schemeClr val="tx1"/>
                </a:solidFill>
                <a:latin typeface="+mn-lt"/>
                <a:ea typeface="Montserrat Bold" pitchFamily="34" charset="-122"/>
                <a:cs typeface="Montserrat Bold" pitchFamily="34" charset="-120"/>
              </a:rPr>
              <a:t>Data Collection</a:t>
            </a:r>
            <a:r>
              <a:rPr lang="en-US" sz="2000" b="1" dirty="0">
                <a:solidFill>
                  <a:schemeClr val="tx1"/>
                </a:solidFill>
                <a:latin typeface="+mn-lt"/>
                <a:ea typeface="Montserrat" pitchFamily="34" charset="-122"/>
                <a:cs typeface="Montserrat" pitchFamily="34" charset="-120"/>
              </a:rPr>
              <a:t>, and </a:t>
            </a:r>
            <a:r>
              <a:rPr lang="en-US" sz="2000" b="1" dirty="0">
                <a:solidFill>
                  <a:schemeClr val="tx1"/>
                </a:solidFill>
                <a:latin typeface="+mn-lt"/>
                <a:ea typeface="Montserrat Bold" pitchFamily="34" charset="-122"/>
                <a:cs typeface="Montserrat Bold" pitchFamily="34" charset="-120"/>
              </a:rPr>
              <a:t>Data Analysis and Validation</a:t>
            </a:r>
            <a:r>
              <a:rPr lang="en-US" sz="2000" b="1" dirty="0">
                <a:solidFill>
                  <a:schemeClr val="tx1"/>
                </a:solidFill>
                <a:latin typeface="+mn-lt"/>
                <a:ea typeface="Montserrat" pitchFamily="34" charset="-122"/>
                <a:cs typeface="Montserrat" pitchFamily="34" charset="-120"/>
              </a:rPr>
              <a:t>. Performance evaluation determines whether the system meets required accuracy criteria, with iterative refinement if needed, before proceeding to </a:t>
            </a:r>
            <a:r>
              <a:rPr lang="en-US" sz="2000" b="1" dirty="0">
                <a:solidFill>
                  <a:schemeClr val="tx1"/>
                </a:solidFill>
                <a:latin typeface="+mn-lt"/>
                <a:ea typeface="Montserrat Bold" pitchFamily="34" charset="-122"/>
                <a:cs typeface="Montserrat Bold" pitchFamily="34" charset="-120"/>
              </a:rPr>
              <a:t>Results, Conclusions, and Recommendations</a:t>
            </a:r>
            <a:r>
              <a:rPr lang="en-US" sz="2000" b="1" dirty="0">
                <a:solidFill>
                  <a:schemeClr val="tx1"/>
                </a:solidFill>
                <a:latin typeface="+mn-lt"/>
                <a:ea typeface="Montserrat" pitchFamily="34" charset="-122"/>
                <a:cs typeface="Montserrat" pitchFamily="34" charset="-120"/>
              </a:rPr>
              <a:t>.</a:t>
            </a:r>
            <a:endParaRPr lang="en-US" sz="2000" b="1" dirty="0">
              <a:solidFill>
                <a:schemeClr val="tx1"/>
              </a:solidFill>
              <a:latin typeface="+mn-lt"/>
            </a:endParaRPr>
          </a:p>
        </p:txBody>
      </p:sp>
    </p:spTree>
    <p:extLst>
      <p:ext uri="{BB962C8B-B14F-4D97-AF65-F5344CB8AC3E}">
        <p14:creationId xmlns:p14="http://schemas.microsoft.com/office/powerpoint/2010/main" val="305149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1"/>
          <p:cNvSpPr/>
          <p:nvPr/>
        </p:nvSpPr>
        <p:spPr>
          <a:xfrm flipH="1">
            <a:off x="1" y="0"/>
            <a:ext cx="18287999" cy="10287001"/>
          </a:xfrm>
          <a:custGeom>
            <a:avLst/>
            <a:gdLst/>
            <a:ahLst/>
            <a:cxnLst/>
            <a:rect l="l" t="t" r="r" b="b"/>
            <a:pathLst>
              <a:path w="20590706" h="11514063" extrusionOk="0">
                <a:moveTo>
                  <a:pt x="20590706" y="0"/>
                </a:moveTo>
                <a:lnTo>
                  <a:pt x="0" y="0"/>
                </a:lnTo>
                <a:lnTo>
                  <a:pt x="0" y="11514063"/>
                </a:lnTo>
                <a:lnTo>
                  <a:pt x="20590706" y="11514063"/>
                </a:lnTo>
                <a:lnTo>
                  <a:pt x="20590706" y="0"/>
                </a:lnTo>
                <a:close/>
              </a:path>
            </a:pathLst>
          </a:custGeom>
          <a:blipFill rotWithShape="1">
            <a:blip r:embed="rId3"/>
            <a:stretch>
              <a:fillRect t="-589"/>
            </a:stretch>
          </a:blipFill>
          <a:ln>
            <a:noFill/>
          </a:ln>
        </p:spPr>
        <p:txBody>
          <a:bodyPr/>
          <a:lstStyle/>
          <a:p>
            <a:endParaRPr lang="en-PH"/>
          </a:p>
        </p:txBody>
      </p:sp>
      <p:sp>
        <p:nvSpPr>
          <p:cNvPr id="274" name="Google Shape;274;p31"/>
          <p:cNvSpPr txBox="1"/>
          <p:nvPr/>
        </p:nvSpPr>
        <p:spPr>
          <a:xfrm>
            <a:off x="174865" y="293777"/>
            <a:ext cx="17145300" cy="615600"/>
          </a:xfrm>
          <a:prstGeom prst="rect">
            <a:avLst/>
          </a:prstGeom>
          <a:noFill/>
          <a:ln>
            <a:noFill/>
          </a:ln>
        </p:spPr>
        <p:txBody>
          <a:bodyPr spcFirstLastPara="1" wrap="square" lIns="0" tIns="0" rIns="0" bIns="0" anchor="t" anchorCtr="0">
            <a:spAutoFit/>
          </a:bodyPr>
          <a:lstStyle/>
          <a:p>
            <a:pPr marL="0" marR="0" lvl="0" indent="0" algn="l" rtl="0">
              <a:lnSpc>
                <a:spcPct val="123000"/>
              </a:lnSpc>
              <a:spcBef>
                <a:spcPts val="0"/>
              </a:spcBef>
              <a:spcAft>
                <a:spcPts val="0"/>
              </a:spcAft>
              <a:buClr>
                <a:srgbClr val="000000"/>
              </a:buClr>
              <a:buSzPts val="4000"/>
              <a:buFont typeface="Arial" panose="020B0604020202020204"/>
              <a:buNone/>
            </a:pPr>
            <a:r>
              <a:rPr lang="en-US" sz="4000" b="1" i="0" u="none" strike="noStrike" cap="none">
                <a:solidFill>
                  <a:srgbClr val="000000"/>
                </a:solidFill>
                <a:latin typeface="Century Gothic" panose="020B0502020202020204"/>
                <a:ea typeface="Century Gothic" panose="020B0502020202020204"/>
                <a:cs typeface="Century Gothic" panose="020B0502020202020204"/>
                <a:sym typeface="Century Gothic" panose="020B0502020202020204"/>
              </a:rPr>
              <a:t>THEORETICAL FRAMEWORK</a:t>
            </a:r>
            <a:endParaRPr sz="10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275" name="Google Shape;275;p31"/>
          <p:cNvGrpSpPr/>
          <p:nvPr/>
        </p:nvGrpSpPr>
        <p:grpSpPr>
          <a:xfrm>
            <a:off x="303121" y="1119621"/>
            <a:ext cx="8211389" cy="256118"/>
            <a:chOff x="0" y="0"/>
            <a:chExt cx="10948519" cy="341491"/>
          </a:xfrm>
        </p:grpSpPr>
        <p:cxnSp>
          <p:nvCxnSpPr>
            <p:cNvPr id="276" name="Google Shape;276;p31"/>
            <p:cNvCxnSpPr/>
            <p:nvPr/>
          </p:nvCxnSpPr>
          <p:spPr>
            <a:xfrm>
              <a:off x="298669" y="170745"/>
              <a:ext cx="10308358" cy="0"/>
            </a:xfrm>
            <a:prstGeom prst="straightConnector1">
              <a:avLst/>
            </a:prstGeom>
            <a:noFill/>
            <a:ln w="50800" cap="flat" cmpd="sng">
              <a:solidFill>
                <a:srgbClr val="000000"/>
              </a:solidFill>
              <a:prstDash val="solid"/>
              <a:round/>
              <a:headEnd type="none" w="sm" len="sm"/>
              <a:tailEnd type="none" w="sm" len="sm"/>
            </a:ln>
          </p:spPr>
        </p:cxnSp>
        <p:grpSp>
          <p:nvGrpSpPr>
            <p:cNvPr id="277" name="Google Shape;277;p31"/>
            <p:cNvGrpSpPr/>
            <p:nvPr/>
          </p:nvGrpSpPr>
          <p:grpSpPr>
            <a:xfrm>
              <a:off x="10607028" y="0"/>
              <a:ext cx="341491" cy="341491"/>
              <a:chOff x="0" y="0"/>
              <a:chExt cx="812800" cy="812800"/>
            </a:xfrm>
          </p:grpSpPr>
          <p:sp>
            <p:nvSpPr>
              <p:cNvPr id="278" name="Google Shape;278;p3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9" name="Google Shape;279;p31"/>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280" name="Google Shape;280;p31"/>
            <p:cNvGrpSpPr/>
            <p:nvPr/>
          </p:nvGrpSpPr>
          <p:grpSpPr>
            <a:xfrm>
              <a:off x="0" y="0"/>
              <a:ext cx="341491" cy="341491"/>
              <a:chOff x="0" y="0"/>
              <a:chExt cx="812800" cy="812800"/>
            </a:xfrm>
          </p:grpSpPr>
          <p:sp>
            <p:nvSpPr>
              <p:cNvPr id="281" name="Google Shape;281;p3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2" name="Google Shape;282;p31"/>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pic>
        <p:nvPicPr>
          <p:cNvPr id="283" name="Google Shape;283;p31"/>
          <p:cNvPicPr preferRelativeResize="0"/>
          <p:nvPr/>
        </p:nvPicPr>
        <p:blipFill rotWithShape="1">
          <a:blip r:embed="rId4"/>
          <a:srcRect/>
          <a:stretch>
            <a:fillRect/>
          </a:stretch>
        </p:blipFill>
        <p:spPr>
          <a:xfrm>
            <a:off x="14666109" y="147008"/>
            <a:ext cx="1650361" cy="1634181"/>
          </a:xfrm>
          <a:prstGeom prst="rect">
            <a:avLst/>
          </a:prstGeom>
          <a:noFill/>
          <a:ln>
            <a:noFill/>
          </a:ln>
        </p:spPr>
      </p:pic>
      <p:pic>
        <p:nvPicPr>
          <p:cNvPr id="284" name="Google Shape;284;p31"/>
          <p:cNvPicPr preferRelativeResize="0"/>
          <p:nvPr/>
        </p:nvPicPr>
        <p:blipFill rotWithShape="1">
          <a:blip r:embed="rId5"/>
          <a:srcRect/>
          <a:stretch>
            <a:fillRect/>
          </a:stretch>
        </p:blipFill>
        <p:spPr>
          <a:xfrm>
            <a:off x="16491334" y="147008"/>
            <a:ext cx="1621801" cy="1634181"/>
          </a:xfrm>
          <a:prstGeom prst="rect">
            <a:avLst/>
          </a:prstGeom>
          <a:noFill/>
          <a:ln>
            <a:noFill/>
          </a:ln>
        </p:spPr>
      </p:pic>
      <p:pic>
        <p:nvPicPr>
          <p:cNvPr id="3" name="Picture 2">
            <a:extLst>
              <a:ext uri="{FF2B5EF4-FFF2-40B4-BE49-F238E27FC236}">
                <a16:creationId xmlns:a16="http://schemas.microsoft.com/office/drawing/2014/main" id="{F222D35E-14D3-86FD-E95B-2605797B968B}"/>
              </a:ext>
            </a:extLst>
          </p:cNvPr>
          <p:cNvPicPr>
            <a:picLocks noChangeAspect="1"/>
          </p:cNvPicPr>
          <p:nvPr/>
        </p:nvPicPr>
        <p:blipFill>
          <a:blip r:embed="rId6"/>
          <a:srcRect l="4853" t="1477" r="1654" b="3191"/>
          <a:stretch>
            <a:fillRect/>
          </a:stretch>
        </p:blipFill>
        <p:spPr>
          <a:xfrm>
            <a:off x="1000375" y="1908460"/>
            <a:ext cx="8498467" cy="5615083"/>
          </a:xfrm>
          <a:prstGeom prst="rect">
            <a:avLst/>
          </a:prstGeom>
        </p:spPr>
      </p:pic>
      <p:sp>
        <p:nvSpPr>
          <p:cNvPr id="4" name="TextBox 3">
            <a:extLst>
              <a:ext uri="{FF2B5EF4-FFF2-40B4-BE49-F238E27FC236}">
                <a16:creationId xmlns:a16="http://schemas.microsoft.com/office/drawing/2014/main" id="{25BC52EC-20DB-E01A-D74E-7A5A1075ACE9}"/>
              </a:ext>
            </a:extLst>
          </p:cNvPr>
          <p:cNvSpPr txBox="1"/>
          <p:nvPr/>
        </p:nvSpPr>
        <p:spPr>
          <a:xfrm>
            <a:off x="10723501" y="1908460"/>
            <a:ext cx="6339840" cy="7364324"/>
          </a:xfrm>
          <a:prstGeom prst="rect">
            <a:avLst/>
          </a:prstGeom>
          <a:noFill/>
        </p:spPr>
        <p:txBody>
          <a:bodyPr wrap="square" rtlCol="0">
            <a:spAutoFit/>
          </a:bodyPr>
          <a:lstStyle/>
          <a:p>
            <a:pPr algn="just">
              <a:lnSpc>
                <a:spcPct val="200000"/>
              </a:lnSpc>
            </a:pPr>
            <a:r>
              <a:rPr lang="en-PH" sz="2400" dirty="0"/>
              <a:t>The theoretical foundation of this study combines the principles of embedded systems, computer vision, deep learning, Edge Artificial Intelligence, and poultry egg candling. Embedded systems provide the basis for integrating hardware and software into a dedicated and portable device, with the Raspberry Pi serving as the computing platform for image processing and Edge-AI classification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3"/>
          <p:cNvSpPr/>
          <p:nvPr/>
        </p:nvSpPr>
        <p:spPr>
          <a:xfrm flipH="1">
            <a:off x="0" y="1"/>
            <a:ext cx="18288000" cy="10287000"/>
          </a:xfrm>
          <a:custGeom>
            <a:avLst/>
            <a:gdLst/>
            <a:ahLst/>
            <a:cxnLst/>
            <a:rect l="l" t="t" r="r" b="b"/>
            <a:pathLst>
              <a:path w="20590706" h="11514063" extrusionOk="0">
                <a:moveTo>
                  <a:pt x="20590706" y="0"/>
                </a:moveTo>
                <a:lnTo>
                  <a:pt x="0" y="0"/>
                </a:lnTo>
                <a:lnTo>
                  <a:pt x="0" y="11514063"/>
                </a:lnTo>
                <a:lnTo>
                  <a:pt x="20590706" y="11514063"/>
                </a:lnTo>
                <a:lnTo>
                  <a:pt x="20590706" y="0"/>
                </a:lnTo>
                <a:close/>
              </a:path>
            </a:pathLst>
          </a:custGeom>
          <a:blipFill rotWithShape="1">
            <a:blip r:embed="rId3"/>
            <a:stretch>
              <a:fillRect t="-589"/>
            </a:stretch>
          </a:blipFill>
          <a:ln>
            <a:noFill/>
          </a:ln>
        </p:spPr>
        <p:txBody>
          <a:bodyPr/>
          <a:lstStyle/>
          <a:p>
            <a:endParaRPr lang="en-PH"/>
          </a:p>
        </p:txBody>
      </p:sp>
      <p:sp>
        <p:nvSpPr>
          <p:cNvPr id="318" name="Google Shape;318;p33"/>
          <p:cNvSpPr txBox="1"/>
          <p:nvPr/>
        </p:nvSpPr>
        <p:spPr>
          <a:xfrm>
            <a:off x="946370" y="488947"/>
            <a:ext cx="17145429" cy="1097865"/>
          </a:xfrm>
          <a:prstGeom prst="rect">
            <a:avLst/>
          </a:prstGeom>
          <a:noFill/>
          <a:ln>
            <a:noFill/>
          </a:ln>
        </p:spPr>
        <p:txBody>
          <a:bodyPr spcFirstLastPara="1" wrap="square" lIns="0" tIns="0" rIns="0" bIns="0" anchor="t" anchorCtr="0">
            <a:spAutoFit/>
          </a:bodyPr>
          <a:lstStyle/>
          <a:p>
            <a:pPr marL="0" marR="0" lvl="0" indent="0" algn="l" rtl="0">
              <a:lnSpc>
                <a:spcPct val="123000"/>
              </a:lnSpc>
              <a:spcBef>
                <a:spcPts val="0"/>
              </a:spcBef>
              <a:spcAft>
                <a:spcPts val="0"/>
              </a:spcAft>
              <a:buClr>
                <a:srgbClr val="000000"/>
              </a:buClr>
              <a:buSzPts val="5800"/>
              <a:buFont typeface="Arial" panose="020B0604020202020204"/>
              <a:buNone/>
            </a:pPr>
            <a:r>
              <a:rPr lang="en-US" sz="5800" b="1" i="0" u="sng" strike="noStrike" cap="none">
                <a:solidFill>
                  <a:srgbClr val="000000"/>
                </a:solidFill>
                <a:latin typeface="Century Gothic" panose="020B0502020202020204"/>
                <a:ea typeface="Century Gothic" panose="020B0502020202020204"/>
                <a:cs typeface="Century Gothic" panose="020B0502020202020204"/>
                <a:sym typeface="Century Gothic" panose="020B0502020202020204"/>
              </a:rPr>
              <a:t>INPUT-PROCESS-OUTPUT</a:t>
            </a:r>
            <a:endParaRPr sz="1400" b="0" i="0" u="sng"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19" name="Google Shape;319;p33"/>
          <p:cNvGrpSpPr/>
          <p:nvPr/>
        </p:nvGrpSpPr>
        <p:grpSpPr>
          <a:xfrm>
            <a:off x="818311" y="1735422"/>
            <a:ext cx="8211389" cy="256118"/>
            <a:chOff x="0" y="0"/>
            <a:chExt cx="10948519" cy="341491"/>
          </a:xfrm>
        </p:grpSpPr>
        <p:cxnSp>
          <p:nvCxnSpPr>
            <p:cNvPr id="320" name="Google Shape;320;p33"/>
            <p:cNvCxnSpPr/>
            <p:nvPr/>
          </p:nvCxnSpPr>
          <p:spPr>
            <a:xfrm>
              <a:off x="298669" y="170745"/>
              <a:ext cx="10308358" cy="0"/>
            </a:xfrm>
            <a:prstGeom prst="straightConnector1">
              <a:avLst/>
            </a:prstGeom>
            <a:noFill/>
            <a:ln w="50800" cap="flat" cmpd="sng">
              <a:solidFill>
                <a:srgbClr val="000000"/>
              </a:solidFill>
              <a:prstDash val="solid"/>
              <a:round/>
              <a:headEnd type="none" w="sm" len="sm"/>
              <a:tailEnd type="none" w="sm" len="sm"/>
            </a:ln>
          </p:spPr>
        </p:cxnSp>
        <p:grpSp>
          <p:nvGrpSpPr>
            <p:cNvPr id="321" name="Google Shape;321;p33"/>
            <p:cNvGrpSpPr/>
            <p:nvPr/>
          </p:nvGrpSpPr>
          <p:grpSpPr>
            <a:xfrm>
              <a:off x="10607028" y="0"/>
              <a:ext cx="341491" cy="341491"/>
              <a:chOff x="0" y="0"/>
              <a:chExt cx="812800" cy="812800"/>
            </a:xfrm>
          </p:grpSpPr>
          <p:sp>
            <p:nvSpPr>
              <p:cNvPr id="322" name="Google Shape;322;p3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3" name="Google Shape;323;p33"/>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324" name="Google Shape;324;p33"/>
            <p:cNvGrpSpPr/>
            <p:nvPr/>
          </p:nvGrpSpPr>
          <p:grpSpPr>
            <a:xfrm>
              <a:off x="0" y="0"/>
              <a:ext cx="341491" cy="341491"/>
              <a:chOff x="0" y="0"/>
              <a:chExt cx="812800" cy="812800"/>
            </a:xfrm>
          </p:grpSpPr>
          <p:sp>
            <p:nvSpPr>
              <p:cNvPr id="325" name="Google Shape;325;p3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6" name="Google Shape;326;p33"/>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pic>
        <p:nvPicPr>
          <p:cNvPr id="327" name="Google Shape;327;p33"/>
          <p:cNvPicPr preferRelativeResize="0"/>
          <p:nvPr/>
        </p:nvPicPr>
        <p:blipFill rotWithShape="1">
          <a:blip r:embed="rId4"/>
          <a:srcRect/>
          <a:stretch>
            <a:fillRect/>
          </a:stretch>
        </p:blipFill>
        <p:spPr>
          <a:xfrm>
            <a:off x="16865328" y="147008"/>
            <a:ext cx="1621801" cy="1634181"/>
          </a:xfrm>
          <a:prstGeom prst="rect">
            <a:avLst/>
          </a:prstGeom>
          <a:noFill/>
          <a:ln>
            <a:noFill/>
          </a:ln>
        </p:spPr>
      </p:pic>
      <p:sp>
        <p:nvSpPr>
          <p:cNvPr id="330" name="Google Shape;330;p33"/>
          <p:cNvSpPr txBox="1"/>
          <p:nvPr/>
        </p:nvSpPr>
        <p:spPr>
          <a:xfrm>
            <a:off x="5485501" y="8564988"/>
            <a:ext cx="7088398"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panose="020B0604020202020204"/>
                <a:ea typeface="Arial" panose="020B0604020202020204"/>
                <a:cs typeface="Arial" panose="020B0604020202020204"/>
                <a:sym typeface="Arial" panose="020B0604020202020204"/>
              </a:rPr>
              <a:t>Input–Process–Output (IPO) model</a:t>
            </a:r>
            <a:endParaRPr sz="3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5" name="Picture 4">
            <a:extLst>
              <a:ext uri="{FF2B5EF4-FFF2-40B4-BE49-F238E27FC236}">
                <a16:creationId xmlns:a16="http://schemas.microsoft.com/office/drawing/2014/main" id="{3A17131E-C973-AF30-68C3-32DD66C7F442}"/>
              </a:ext>
            </a:extLst>
          </p:cNvPr>
          <p:cNvPicPr>
            <a:picLocks noChangeAspect="1"/>
          </p:cNvPicPr>
          <p:nvPr/>
        </p:nvPicPr>
        <p:blipFill>
          <a:blip r:embed="rId5"/>
          <a:stretch>
            <a:fillRect/>
          </a:stretch>
        </p:blipFill>
        <p:spPr>
          <a:xfrm>
            <a:off x="2115403" y="1953830"/>
            <a:ext cx="14057194" cy="6379340"/>
          </a:xfrm>
          <a:prstGeom prst="rect">
            <a:avLst/>
          </a:prstGeom>
        </p:spPr>
      </p:pic>
      <p:pic>
        <p:nvPicPr>
          <p:cNvPr id="328" name="Google Shape;328;p33"/>
          <p:cNvPicPr preferRelativeResize="0"/>
          <p:nvPr/>
        </p:nvPicPr>
        <p:blipFill rotWithShape="1">
          <a:blip r:embed="rId6"/>
          <a:srcRect/>
          <a:stretch>
            <a:fillRect/>
          </a:stretch>
        </p:blipFill>
        <p:spPr>
          <a:xfrm>
            <a:off x="14785753" y="67490"/>
            <a:ext cx="1943100" cy="1924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34"/>
          <p:cNvSpPr/>
          <p:nvPr/>
        </p:nvSpPr>
        <p:spPr>
          <a:xfrm flipH="1">
            <a:off x="-114301" y="37548"/>
            <a:ext cx="18288001" cy="10287000"/>
          </a:xfrm>
          <a:custGeom>
            <a:avLst/>
            <a:gdLst/>
            <a:ahLst/>
            <a:cxnLst/>
            <a:rect l="l" t="t" r="r" b="b"/>
            <a:pathLst>
              <a:path w="20590706" h="11514063" extrusionOk="0">
                <a:moveTo>
                  <a:pt x="20590706" y="0"/>
                </a:moveTo>
                <a:lnTo>
                  <a:pt x="0" y="0"/>
                </a:lnTo>
                <a:lnTo>
                  <a:pt x="0" y="11514063"/>
                </a:lnTo>
                <a:lnTo>
                  <a:pt x="20590706" y="11514063"/>
                </a:lnTo>
                <a:lnTo>
                  <a:pt x="20590706" y="0"/>
                </a:lnTo>
                <a:close/>
              </a:path>
            </a:pathLst>
          </a:custGeom>
          <a:blipFill rotWithShape="1">
            <a:blip r:embed="rId3"/>
            <a:stretch>
              <a:fillRect t="-589"/>
            </a:stretch>
          </a:blipFill>
          <a:ln>
            <a:noFill/>
          </a:ln>
        </p:spPr>
        <p:txBody>
          <a:bodyPr/>
          <a:lstStyle/>
          <a:p>
            <a:endParaRPr lang="en-PH"/>
          </a:p>
        </p:txBody>
      </p:sp>
      <p:sp>
        <p:nvSpPr>
          <p:cNvPr id="336" name="Google Shape;336;p34"/>
          <p:cNvSpPr txBox="1"/>
          <p:nvPr/>
        </p:nvSpPr>
        <p:spPr>
          <a:xfrm>
            <a:off x="1186922" y="900276"/>
            <a:ext cx="14423192" cy="908582"/>
          </a:xfrm>
          <a:prstGeom prst="rect">
            <a:avLst/>
          </a:prstGeom>
          <a:noFill/>
          <a:ln>
            <a:noFill/>
          </a:ln>
        </p:spPr>
        <p:txBody>
          <a:bodyPr spcFirstLastPara="1" wrap="square" lIns="0" tIns="0" rIns="0" bIns="0" anchor="t" anchorCtr="0">
            <a:spAutoFit/>
          </a:bodyPr>
          <a:lstStyle/>
          <a:p>
            <a:pPr marL="0" marR="0" lvl="0" indent="0" algn="l" rtl="0">
              <a:lnSpc>
                <a:spcPct val="123000"/>
              </a:lnSpc>
              <a:spcBef>
                <a:spcPts val="0"/>
              </a:spcBef>
              <a:spcAft>
                <a:spcPts val="0"/>
              </a:spcAft>
              <a:buClr>
                <a:srgbClr val="000000"/>
              </a:buClr>
              <a:buSzPts val="4800"/>
              <a:buFont typeface="Arial" panose="020B0604020202020204"/>
              <a:buNone/>
            </a:pPr>
            <a:r>
              <a:rPr lang="en-US" sz="4800" b="1" i="0" u="none" strike="noStrike" cap="none">
                <a:solidFill>
                  <a:srgbClr val="000000"/>
                </a:solidFill>
                <a:latin typeface="Century Gothic" panose="020B0502020202020204"/>
                <a:ea typeface="Century Gothic" panose="020B0502020202020204"/>
                <a:cs typeface="Century Gothic" panose="020B0502020202020204"/>
                <a:sym typeface="Century Gothic" panose="020B0502020202020204"/>
              </a:rPr>
              <a:t>METHODOLOGY AND SYSTEM SCOPE</a:t>
            </a: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37" name="Google Shape;337;p34"/>
          <p:cNvGrpSpPr/>
          <p:nvPr/>
        </p:nvGrpSpPr>
        <p:grpSpPr>
          <a:xfrm>
            <a:off x="818311" y="1735422"/>
            <a:ext cx="8211389" cy="256118"/>
            <a:chOff x="0" y="0"/>
            <a:chExt cx="10948519" cy="341491"/>
          </a:xfrm>
        </p:grpSpPr>
        <p:cxnSp>
          <p:nvCxnSpPr>
            <p:cNvPr id="338" name="Google Shape;338;p34"/>
            <p:cNvCxnSpPr/>
            <p:nvPr/>
          </p:nvCxnSpPr>
          <p:spPr>
            <a:xfrm>
              <a:off x="298669" y="170745"/>
              <a:ext cx="10308358" cy="0"/>
            </a:xfrm>
            <a:prstGeom prst="straightConnector1">
              <a:avLst/>
            </a:prstGeom>
            <a:noFill/>
            <a:ln w="50800" cap="flat" cmpd="sng">
              <a:solidFill>
                <a:srgbClr val="000000"/>
              </a:solidFill>
              <a:prstDash val="solid"/>
              <a:round/>
              <a:headEnd type="none" w="sm" len="sm"/>
              <a:tailEnd type="none" w="sm" len="sm"/>
            </a:ln>
          </p:spPr>
        </p:cxnSp>
        <p:grpSp>
          <p:nvGrpSpPr>
            <p:cNvPr id="339" name="Google Shape;339;p34"/>
            <p:cNvGrpSpPr/>
            <p:nvPr/>
          </p:nvGrpSpPr>
          <p:grpSpPr>
            <a:xfrm>
              <a:off x="10607028" y="0"/>
              <a:ext cx="341491" cy="341491"/>
              <a:chOff x="0" y="0"/>
              <a:chExt cx="812800" cy="812800"/>
            </a:xfrm>
          </p:grpSpPr>
          <p:sp>
            <p:nvSpPr>
              <p:cNvPr id="340" name="Google Shape;340;p3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1" name="Google Shape;341;p34"/>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342" name="Google Shape;342;p34"/>
            <p:cNvGrpSpPr/>
            <p:nvPr/>
          </p:nvGrpSpPr>
          <p:grpSpPr>
            <a:xfrm>
              <a:off x="0" y="0"/>
              <a:ext cx="341491" cy="341491"/>
              <a:chOff x="0" y="0"/>
              <a:chExt cx="812800" cy="812800"/>
            </a:xfrm>
          </p:grpSpPr>
          <p:sp>
            <p:nvSpPr>
              <p:cNvPr id="343" name="Google Shape;343;p3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4" name="Google Shape;344;p34"/>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pic>
        <p:nvPicPr>
          <p:cNvPr id="345" name="Google Shape;345;p34"/>
          <p:cNvPicPr preferRelativeResize="0"/>
          <p:nvPr/>
        </p:nvPicPr>
        <p:blipFill rotWithShape="1">
          <a:blip r:embed="rId4"/>
          <a:srcRect/>
          <a:stretch>
            <a:fillRect/>
          </a:stretch>
        </p:blipFill>
        <p:spPr>
          <a:xfrm>
            <a:off x="16865328" y="147008"/>
            <a:ext cx="1621801" cy="1634181"/>
          </a:xfrm>
          <a:prstGeom prst="rect">
            <a:avLst/>
          </a:prstGeom>
          <a:noFill/>
          <a:ln>
            <a:noFill/>
          </a:ln>
        </p:spPr>
      </p:pic>
      <p:pic>
        <p:nvPicPr>
          <p:cNvPr id="346" name="Google Shape;346;p34"/>
          <p:cNvPicPr preferRelativeResize="0"/>
          <p:nvPr/>
        </p:nvPicPr>
        <p:blipFill rotWithShape="1">
          <a:blip r:embed="rId5"/>
          <a:srcRect/>
          <a:stretch>
            <a:fillRect/>
          </a:stretch>
        </p:blipFill>
        <p:spPr>
          <a:xfrm>
            <a:off x="14785753" y="67490"/>
            <a:ext cx="1943100" cy="1924050"/>
          </a:xfrm>
          <a:prstGeom prst="rect">
            <a:avLst/>
          </a:prstGeom>
          <a:noFill/>
          <a:ln>
            <a:noFill/>
          </a:ln>
        </p:spPr>
      </p:pic>
      <p:sp>
        <p:nvSpPr>
          <p:cNvPr id="351" name="Google Shape;351;p34"/>
          <p:cNvSpPr txBox="1"/>
          <p:nvPr/>
        </p:nvSpPr>
        <p:spPr>
          <a:xfrm>
            <a:off x="5277002" y="7787896"/>
            <a:ext cx="235724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0" i="0" u="none" strike="noStrike" cap="none" dirty="0">
                <a:solidFill>
                  <a:srgbClr val="000000"/>
                </a:solidFill>
                <a:latin typeface="Arial" panose="020B0604020202020204"/>
                <a:ea typeface="Arial" panose="020B0604020202020204"/>
                <a:cs typeface="Arial" panose="020B0604020202020204"/>
                <a:sym typeface="Arial" panose="020B0604020202020204"/>
              </a:rPr>
              <a:t>(a) External Housing</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353" name="Google Shape;353;p34"/>
          <p:cNvSpPr txBox="1"/>
          <p:nvPr/>
        </p:nvSpPr>
        <p:spPr>
          <a:xfrm>
            <a:off x="12525153" y="7695422"/>
            <a:ext cx="42037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dirty="0">
                <a:solidFill>
                  <a:srgbClr val="000000"/>
                </a:solidFill>
                <a:latin typeface="Arial" panose="020B0604020202020204"/>
                <a:ea typeface="Arial" panose="020B0604020202020204"/>
                <a:cs typeface="Arial" panose="020B0604020202020204"/>
                <a:sym typeface="Arial" panose="020B0604020202020204"/>
              </a:rPr>
              <a:t>(a) Orthographic and Isometric Views</a:t>
            </a:r>
            <a:r>
              <a:rPr lang="en-US" sz="1800" b="1"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pic>
        <p:nvPicPr>
          <p:cNvPr id="3" name="Picture 2">
            <a:extLst>
              <a:ext uri="{FF2B5EF4-FFF2-40B4-BE49-F238E27FC236}">
                <a16:creationId xmlns:a16="http://schemas.microsoft.com/office/drawing/2014/main" id="{A4550F8A-E9D5-C67B-8907-4141284AF2C1}"/>
              </a:ext>
            </a:extLst>
          </p:cNvPr>
          <p:cNvPicPr>
            <a:picLocks noChangeAspect="1"/>
          </p:cNvPicPr>
          <p:nvPr/>
        </p:nvPicPr>
        <p:blipFill>
          <a:blip r:embed="rId6"/>
          <a:srcRect t="23035" r="65411" b="25298"/>
          <a:stretch>
            <a:fillRect/>
          </a:stretch>
        </p:blipFill>
        <p:spPr>
          <a:xfrm>
            <a:off x="2256417" y="2046163"/>
            <a:ext cx="7213084" cy="5836216"/>
          </a:xfrm>
          <a:prstGeom prst="rect">
            <a:avLst/>
          </a:prstGeom>
        </p:spPr>
      </p:pic>
      <p:pic>
        <p:nvPicPr>
          <p:cNvPr id="5" name="Picture 4">
            <a:extLst>
              <a:ext uri="{FF2B5EF4-FFF2-40B4-BE49-F238E27FC236}">
                <a16:creationId xmlns:a16="http://schemas.microsoft.com/office/drawing/2014/main" id="{E840FEE2-E792-7BFA-774D-755ECCD5F4A5}"/>
              </a:ext>
            </a:extLst>
          </p:cNvPr>
          <p:cNvPicPr>
            <a:picLocks noChangeAspect="1"/>
          </p:cNvPicPr>
          <p:nvPr/>
        </p:nvPicPr>
        <p:blipFill>
          <a:blip r:embed="rId6"/>
          <a:srcRect l="65052" t="21228" r="78" b="27937"/>
          <a:stretch>
            <a:fillRect/>
          </a:stretch>
        </p:blipFill>
        <p:spPr>
          <a:xfrm>
            <a:off x="10495129" y="2128470"/>
            <a:ext cx="6942538" cy="54822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35"/>
          <p:cNvSpPr/>
          <p:nvPr/>
        </p:nvSpPr>
        <p:spPr>
          <a:xfrm flipH="1">
            <a:off x="57150" y="-37548"/>
            <a:ext cx="18173700" cy="10324548"/>
          </a:xfrm>
          <a:custGeom>
            <a:avLst/>
            <a:gdLst/>
            <a:ahLst/>
            <a:cxnLst/>
            <a:rect l="l" t="t" r="r" b="b"/>
            <a:pathLst>
              <a:path w="20590706" h="11514063" extrusionOk="0">
                <a:moveTo>
                  <a:pt x="20590706" y="0"/>
                </a:moveTo>
                <a:lnTo>
                  <a:pt x="0" y="0"/>
                </a:lnTo>
                <a:lnTo>
                  <a:pt x="0" y="11514063"/>
                </a:lnTo>
                <a:lnTo>
                  <a:pt x="20590706" y="11514063"/>
                </a:lnTo>
                <a:lnTo>
                  <a:pt x="20590706" y="0"/>
                </a:lnTo>
                <a:close/>
              </a:path>
            </a:pathLst>
          </a:custGeom>
          <a:blipFill rotWithShape="1">
            <a:blip r:embed="rId3"/>
            <a:stretch>
              <a:fillRect t="-58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9" name="Google Shape;359;p35"/>
          <p:cNvSpPr txBox="1"/>
          <p:nvPr/>
        </p:nvSpPr>
        <p:spPr>
          <a:xfrm>
            <a:off x="1186922" y="900276"/>
            <a:ext cx="14423192" cy="757130"/>
          </a:xfrm>
          <a:prstGeom prst="rect">
            <a:avLst/>
          </a:prstGeom>
          <a:noFill/>
          <a:ln>
            <a:noFill/>
          </a:ln>
        </p:spPr>
        <p:txBody>
          <a:bodyPr spcFirstLastPara="1" wrap="square" lIns="0" tIns="0" rIns="0" bIns="0" anchor="t" anchorCtr="0">
            <a:spAutoFit/>
          </a:bodyPr>
          <a:lstStyle/>
          <a:p>
            <a:pPr marL="0" marR="0" lvl="0" indent="0" algn="l" rtl="0">
              <a:lnSpc>
                <a:spcPct val="123000"/>
              </a:lnSpc>
              <a:spcBef>
                <a:spcPts val="0"/>
              </a:spcBef>
              <a:spcAft>
                <a:spcPts val="0"/>
              </a:spcAft>
              <a:buClr>
                <a:srgbClr val="000000"/>
              </a:buClr>
              <a:buSzPts val="4000"/>
              <a:buFont typeface="Arial" panose="020B0604020202020204"/>
              <a:buNone/>
            </a:pPr>
            <a:r>
              <a:rPr lang="en-US" sz="4000" b="1" i="0" u="none" strike="noStrike" cap="none">
                <a:solidFill>
                  <a:srgbClr val="000000"/>
                </a:solidFill>
                <a:latin typeface="Century Gothic" panose="020B0502020202020204"/>
                <a:ea typeface="Century Gothic" panose="020B0502020202020204"/>
                <a:cs typeface="Century Gothic" panose="020B0502020202020204"/>
                <a:sym typeface="Century Gothic" panose="020B0502020202020204"/>
              </a:rPr>
              <a:t>METHODOLOGY AND SYSTEM SCOPE</a:t>
            </a:r>
            <a:endParaRPr sz="10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60" name="Google Shape;360;p35"/>
          <p:cNvGrpSpPr/>
          <p:nvPr/>
        </p:nvGrpSpPr>
        <p:grpSpPr>
          <a:xfrm>
            <a:off x="818311" y="1735422"/>
            <a:ext cx="8211389" cy="256118"/>
            <a:chOff x="0" y="0"/>
            <a:chExt cx="10948519" cy="341491"/>
          </a:xfrm>
        </p:grpSpPr>
        <p:cxnSp>
          <p:nvCxnSpPr>
            <p:cNvPr id="361" name="Google Shape;361;p35"/>
            <p:cNvCxnSpPr/>
            <p:nvPr/>
          </p:nvCxnSpPr>
          <p:spPr>
            <a:xfrm>
              <a:off x="298669" y="170745"/>
              <a:ext cx="10308358" cy="0"/>
            </a:xfrm>
            <a:prstGeom prst="straightConnector1">
              <a:avLst/>
            </a:prstGeom>
            <a:noFill/>
            <a:ln w="50800" cap="flat" cmpd="sng">
              <a:solidFill>
                <a:srgbClr val="000000"/>
              </a:solidFill>
              <a:prstDash val="solid"/>
              <a:round/>
              <a:headEnd type="none" w="sm" len="sm"/>
              <a:tailEnd type="none" w="sm" len="sm"/>
            </a:ln>
          </p:spPr>
        </p:cxnSp>
        <p:grpSp>
          <p:nvGrpSpPr>
            <p:cNvPr id="362" name="Google Shape;362;p35"/>
            <p:cNvGrpSpPr/>
            <p:nvPr/>
          </p:nvGrpSpPr>
          <p:grpSpPr>
            <a:xfrm>
              <a:off x="10607028" y="0"/>
              <a:ext cx="341491" cy="341491"/>
              <a:chOff x="0" y="0"/>
              <a:chExt cx="812800" cy="812800"/>
            </a:xfrm>
          </p:grpSpPr>
          <p:sp>
            <p:nvSpPr>
              <p:cNvPr id="363" name="Google Shape;363;p3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4" name="Google Shape;364;p35"/>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365" name="Google Shape;365;p35"/>
            <p:cNvGrpSpPr/>
            <p:nvPr/>
          </p:nvGrpSpPr>
          <p:grpSpPr>
            <a:xfrm>
              <a:off x="0" y="0"/>
              <a:ext cx="341491" cy="341491"/>
              <a:chOff x="0" y="0"/>
              <a:chExt cx="812800" cy="812800"/>
            </a:xfrm>
          </p:grpSpPr>
          <p:sp>
            <p:nvSpPr>
              <p:cNvPr id="366" name="Google Shape;366;p3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7" name="Google Shape;367;p35"/>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pic>
        <p:nvPicPr>
          <p:cNvPr id="368" name="Google Shape;368;p35"/>
          <p:cNvPicPr preferRelativeResize="0"/>
          <p:nvPr/>
        </p:nvPicPr>
        <p:blipFill rotWithShape="1">
          <a:blip r:embed="rId4"/>
          <a:srcRect/>
          <a:stretch>
            <a:fillRect/>
          </a:stretch>
        </p:blipFill>
        <p:spPr>
          <a:xfrm>
            <a:off x="16528214" y="157644"/>
            <a:ext cx="1621801" cy="1634181"/>
          </a:xfrm>
          <a:prstGeom prst="rect">
            <a:avLst/>
          </a:prstGeom>
          <a:noFill/>
          <a:ln>
            <a:noFill/>
          </a:ln>
        </p:spPr>
      </p:pic>
      <p:pic>
        <p:nvPicPr>
          <p:cNvPr id="369" name="Google Shape;369;p35"/>
          <p:cNvPicPr preferRelativeResize="0"/>
          <p:nvPr/>
        </p:nvPicPr>
        <p:blipFill rotWithShape="1">
          <a:blip r:embed="rId5"/>
          <a:srcRect/>
          <a:stretch>
            <a:fillRect/>
          </a:stretch>
        </p:blipFill>
        <p:spPr>
          <a:xfrm>
            <a:off x="14556529" y="16082"/>
            <a:ext cx="1943100" cy="1924050"/>
          </a:xfrm>
          <a:prstGeom prst="rect">
            <a:avLst/>
          </a:prstGeom>
          <a:noFill/>
          <a:ln>
            <a:noFill/>
          </a:ln>
        </p:spPr>
      </p:pic>
      <p:sp>
        <p:nvSpPr>
          <p:cNvPr id="370" name="Google Shape;370;p35"/>
          <p:cNvSpPr txBox="1"/>
          <p:nvPr/>
        </p:nvSpPr>
        <p:spPr>
          <a:xfrm>
            <a:off x="4166908" y="7803017"/>
            <a:ext cx="254779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panose="020B0604020202020204"/>
                <a:ea typeface="Arial" panose="020B0604020202020204"/>
                <a:cs typeface="Arial" panose="020B0604020202020204"/>
                <a:sym typeface="Arial" panose="020B0604020202020204"/>
              </a:rPr>
              <a:t>System Design</a:t>
            </a:r>
            <a:endParaRPr sz="4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371" name="Google Shape;371;p35"/>
          <p:cNvSpPr txBox="1"/>
          <p:nvPr/>
        </p:nvSpPr>
        <p:spPr>
          <a:xfrm>
            <a:off x="12050259" y="1630037"/>
            <a:ext cx="33909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Arial" panose="020B0604020202020204"/>
                <a:ea typeface="Arial" panose="020B0604020202020204"/>
                <a:cs typeface="Arial" panose="020B0604020202020204"/>
                <a:sym typeface="Arial" panose="020B0604020202020204"/>
              </a:rPr>
              <a:t>System Flowchart</a:t>
            </a:r>
            <a:endParaRPr sz="2000" b="1"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pic>
        <p:nvPicPr>
          <p:cNvPr id="3" name="Picture 2">
            <a:extLst>
              <a:ext uri="{FF2B5EF4-FFF2-40B4-BE49-F238E27FC236}">
                <a16:creationId xmlns:a16="http://schemas.microsoft.com/office/drawing/2014/main" id="{F44CBC06-738B-7A5F-888A-4AE84457151B}"/>
              </a:ext>
            </a:extLst>
          </p:cNvPr>
          <p:cNvPicPr>
            <a:picLocks noChangeAspect="1"/>
          </p:cNvPicPr>
          <p:nvPr/>
        </p:nvPicPr>
        <p:blipFill>
          <a:blip r:embed="rId6"/>
          <a:srcRect l="1683" t="2414" r="2460" b="6345"/>
          <a:stretch>
            <a:fillRect/>
          </a:stretch>
        </p:blipFill>
        <p:spPr>
          <a:xfrm>
            <a:off x="1392073" y="2120162"/>
            <a:ext cx="8293946" cy="5752840"/>
          </a:xfrm>
          <a:prstGeom prst="rect">
            <a:avLst/>
          </a:prstGeom>
        </p:spPr>
      </p:pic>
      <p:pic>
        <p:nvPicPr>
          <p:cNvPr id="4" name="Picture 3">
            <a:extLst>
              <a:ext uri="{FF2B5EF4-FFF2-40B4-BE49-F238E27FC236}">
                <a16:creationId xmlns:a16="http://schemas.microsoft.com/office/drawing/2014/main" id="{236F3D2A-0311-FE27-8BD5-786355EE9AB0}"/>
              </a:ext>
            </a:extLst>
          </p:cNvPr>
          <p:cNvPicPr/>
          <p:nvPr/>
        </p:nvPicPr>
        <p:blipFill>
          <a:blip r:embed="rId7"/>
          <a:stretch>
            <a:fillRect/>
          </a:stretch>
        </p:blipFill>
        <p:spPr>
          <a:xfrm>
            <a:off x="10741823" y="2120162"/>
            <a:ext cx="5654666" cy="73243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36"/>
          <p:cNvSpPr/>
          <p:nvPr/>
        </p:nvSpPr>
        <p:spPr>
          <a:xfrm flipH="1">
            <a:off x="0" y="-1"/>
            <a:ext cx="18287999" cy="10287001"/>
          </a:xfrm>
          <a:custGeom>
            <a:avLst/>
            <a:gdLst/>
            <a:ahLst/>
            <a:cxnLst/>
            <a:rect l="l" t="t" r="r" b="b"/>
            <a:pathLst>
              <a:path w="20590706" h="11514063" extrusionOk="0">
                <a:moveTo>
                  <a:pt x="20590706" y="0"/>
                </a:moveTo>
                <a:lnTo>
                  <a:pt x="0" y="0"/>
                </a:lnTo>
                <a:lnTo>
                  <a:pt x="0" y="11514063"/>
                </a:lnTo>
                <a:lnTo>
                  <a:pt x="20590706" y="11514063"/>
                </a:lnTo>
                <a:lnTo>
                  <a:pt x="20590706" y="0"/>
                </a:lnTo>
                <a:close/>
              </a:path>
            </a:pathLst>
          </a:custGeom>
          <a:blipFill rotWithShape="1">
            <a:blip r:embed="rId3"/>
            <a:stretch>
              <a:fillRect t="-589"/>
            </a:stretch>
          </a:blipFill>
          <a:ln>
            <a:noFill/>
          </a:ln>
        </p:spPr>
        <p:txBody>
          <a:bodyPr/>
          <a:lstStyle/>
          <a:p>
            <a:endParaRPr lang="en-PH"/>
          </a:p>
        </p:txBody>
      </p:sp>
      <p:sp>
        <p:nvSpPr>
          <p:cNvPr id="382" name="Google Shape;382;p36"/>
          <p:cNvSpPr txBox="1"/>
          <p:nvPr/>
        </p:nvSpPr>
        <p:spPr>
          <a:xfrm>
            <a:off x="1042313" y="780921"/>
            <a:ext cx="9525034" cy="1097865"/>
          </a:xfrm>
          <a:prstGeom prst="rect">
            <a:avLst/>
          </a:prstGeom>
          <a:noFill/>
          <a:ln>
            <a:noFill/>
          </a:ln>
        </p:spPr>
        <p:txBody>
          <a:bodyPr spcFirstLastPara="1" wrap="square" lIns="0" tIns="0" rIns="0" bIns="0" anchor="t" anchorCtr="0">
            <a:spAutoFit/>
          </a:bodyPr>
          <a:lstStyle/>
          <a:p>
            <a:pPr marL="0" marR="0" lvl="0" indent="0" algn="l" rtl="0">
              <a:lnSpc>
                <a:spcPct val="123000"/>
              </a:lnSpc>
              <a:spcBef>
                <a:spcPts val="0"/>
              </a:spcBef>
              <a:spcAft>
                <a:spcPts val="0"/>
              </a:spcAft>
              <a:buClr>
                <a:srgbClr val="000000"/>
              </a:buClr>
              <a:buSzPts val="5800"/>
              <a:buFont typeface="Arial" panose="020B0604020202020204"/>
              <a:buNone/>
            </a:pPr>
            <a:r>
              <a:rPr lang="en-US" sz="5800" b="1" i="0" u="none" strike="noStrike" cap="none">
                <a:solidFill>
                  <a:srgbClr val="000000"/>
                </a:solidFill>
                <a:latin typeface="Century Gothic" panose="020B0502020202020204"/>
                <a:ea typeface="Century Gothic" panose="020B0502020202020204"/>
                <a:cs typeface="Century Gothic" panose="020B0502020202020204"/>
                <a:sym typeface="Century Gothic" panose="020B0502020202020204"/>
              </a:rPr>
              <a:t>SYSTEM HARDWARE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83" name="Google Shape;383;p36"/>
          <p:cNvGrpSpPr/>
          <p:nvPr/>
        </p:nvGrpSpPr>
        <p:grpSpPr>
          <a:xfrm>
            <a:off x="818311" y="1735422"/>
            <a:ext cx="8211389" cy="256118"/>
            <a:chOff x="0" y="0"/>
            <a:chExt cx="10948519" cy="341491"/>
          </a:xfrm>
        </p:grpSpPr>
        <p:cxnSp>
          <p:nvCxnSpPr>
            <p:cNvPr id="384" name="Google Shape;384;p36"/>
            <p:cNvCxnSpPr/>
            <p:nvPr/>
          </p:nvCxnSpPr>
          <p:spPr>
            <a:xfrm>
              <a:off x="298669" y="170745"/>
              <a:ext cx="10308358" cy="0"/>
            </a:xfrm>
            <a:prstGeom prst="straightConnector1">
              <a:avLst/>
            </a:prstGeom>
            <a:noFill/>
            <a:ln w="50800" cap="flat" cmpd="sng">
              <a:solidFill>
                <a:srgbClr val="000000"/>
              </a:solidFill>
              <a:prstDash val="solid"/>
              <a:round/>
              <a:headEnd type="none" w="sm" len="sm"/>
              <a:tailEnd type="none" w="sm" len="sm"/>
            </a:ln>
          </p:spPr>
        </p:cxnSp>
        <p:grpSp>
          <p:nvGrpSpPr>
            <p:cNvPr id="385" name="Google Shape;385;p36"/>
            <p:cNvGrpSpPr/>
            <p:nvPr/>
          </p:nvGrpSpPr>
          <p:grpSpPr>
            <a:xfrm>
              <a:off x="10607028" y="0"/>
              <a:ext cx="341491" cy="341491"/>
              <a:chOff x="0" y="0"/>
              <a:chExt cx="812800" cy="812800"/>
            </a:xfrm>
          </p:grpSpPr>
          <p:sp>
            <p:nvSpPr>
              <p:cNvPr id="386" name="Google Shape;386;p3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7" name="Google Shape;387;p36"/>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388" name="Google Shape;388;p36"/>
            <p:cNvGrpSpPr/>
            <p:nvPr/>
          </p:nvGrpSpPr>
          <p:grpSpPr>
            <a:xfrm>
              <a:off x="0" y="0"/>
              <a:ext cx="341491" cy="341491"/>
              <a:chOff x="0" y="0"/>
              <a:chExt cx="812800" cy="812800"/>
            </a:xfrm>
          </p:grpSpPr>
          <p:sp>
            <p:nvSpPr>
              <p:cNvPr id="389" name="Google Shape;389;p3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0" name="Google Shape;390;p36"/>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pic>
        <p:nvPicPr>
          <p:cNvPr id="391" name="Google Shape;391;p36"/>
          <p:cNvPicPr preferRelativeResize="0"/>
          <p:nvPr/>
        </p:nvPicPr>
        <p:blipFill rotWithShape="1">
          <a:blip r:embed="rId4"/>
          <a:srcRect/>
          <a:stretch>
            <a:fillRect/>
          </a:stretch>
        </p:blipFill>
        <p:spPr>
          <a:xfrm>
            <a:off x="16865328" y="147008"/>
            <a:ext cx="1621801" cy="1634181"/>
          </a:xfrm>
          <a:prstGeom prst="rect">
            <a:avLst/>
          </a:prstGeom>
          <a:noFill/>
          <a:ln>
            <a:noFill/>
          </a:ln>
        </p:spPr>
      </p:pic>
      <p:pic>
        <p:nvPicPr>
          <p:cNvPr id="392" name="Google Shape;392;p36"/>
          <p:cNvPicPr preferRelativeResize="0"/>
          <p:nvPr/>
        </p:nvPicPr>
        <p:blipFill rotWithShape="1">
          <a:blip r:embed="rId5"/>
          <a:srcRect/>
          <a:stretch>
            <a:fillRect/>
          </a:stretch>
        </p:blipFill>
        <p:spPr>
          <a:xfrm>
            <a:off x="14785753" y="67490"/>
            <a:ext cx="1943100" cy="1924050"/>
          </a:xfrm>
          <a:prstGeom prst="rect">
            <a:avLst/>
          </a:prstGeom>
          <a:noFill/>
          <a:ln>
            <a:noFill/>
          </a:ln>
        </p:spPr>
      </p:pic>
      <p:sp>
        <p:nvSpPr>
          <p:cNvPr id="396" name="Google Shape;396;p36"/>
          <p:cNvSpPr txBox="1"/>
          <p:nvPr/>
        </p:nvSpPr>
        <p:spPr>
          <a:xfrm>
            <a:off x="7797008" y="7900299"/>
            <a:ext cx="4122652"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Arial" panose="020B0604020202020204"/>
                <a:ea typeface="Arial" panose="020B0604020202020204"/>
                <a:cs typeface="Arial" panose="020B0604020202020204"/>
                <a:sym typeface="Arial" panose="020B0604020202020204"/>
              </a:rPr>
              <a:t>System Architecture</a:t>
            </a:r>
            <a:endParaRPr sz="4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pic>
        <p:nvPicPr>
          <p:cNvPr id="7" name="Picture 6">
            <a:extLst>
              <a:ext uri="{FF2B5EF4-FFF2-40B4-BE49-F238E27FC236}">
                <a16:creationId xmlns:a16="http://schemas.microsoft.com/office/drawing/2014/main" id="{809F274E-F32A-3CEB-66E8-AD63DD5572D9}"/>
              </a:ext>
            </a:extLst>
          </p:cNvPr>
          <p:cNvPicPr>
            <a:picLocks noChangeAspect="1"/>
          </p:cNvPicPr>
          <p:nvPr/>
        </p:nvPicPr>
        <p:blipFill>
          <a:blip r:embed="rId6"/>
          <a:stretch>
            <a:fillRect/>
          </a:stretch>
        </p:blipFill>
        <p:spPr>
          <a:xfrm>
            <a:off x="4285397" y="2085936"/>
            <a:ext cx="10361804" cy="578361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0">
          <a:extLst>
            <a:ext uri="{FF2B5EF4-FFF2-40B4-BE49-F238E27FC236}">
              <a16:creationId xmlns:a16="http://schemas.microsoft.com/office/drawing/2014/main" id="{33D49593-E9A7-BBBF-8503-4055E3B03D73}"/>
            </a:ext>
          </a:extLst>
        </p:cNvPr>
        <p:cNvGrpSpPr/>
        <p:nvPr/>
      </p:nvGrpSpPr>
      <p:grpSpPr>
        <a:xfrm>
          <a:off x="0" y="0"/>
          <a:ext cx="0" cy="0"/>
          <a:chOff x="0" y="0"/>
          <a:chExt cx="0" cy="0"/>
        </a:xfrm>
      </p:grpSpPr>
      <p:sp>
        <p:nvSpPr>
          <p:cNvPr id="381" name="Google Shape;381;p36">
            <a:extLst>
              <a:ext uri="{FF2B5EF4-FFF2-40B4-BE49-F238E27FC236}">
                <a16:creationId xmlns:a16="http://schemas.microsoft.com/office/drawing/2014/main" id="{A34C42BC-58E8-FDDC-D7A0-6A29088A73E3}"/>
              </a:ext>
            </a:extLst>
          </p:cNvPr>
          <p:cNvSpPr/>
          <p:nvPr/>
        </p:nvSpPr>
        <p:spPr>
          <a:xfrm flipH="1">
            <a:off x="0" y="-1"/>
            <a:ext cx="18287999" cy="10287001"/>
          </a:xfrm>
          <a:custGeom>
            <a:avLst/>
            <a:gdLst/>
            <a:ahLst/>
            <a:cxnLst/>
            <a:rect l="l" t="t" r="r" b="b"/>
            <a:pathLst>
              <a:path w="20590706" h="11514063" extrusionOk="0">
                <a:moveTo>
                  <a:pt x="20590706" y="0"/>
                </a:moveTo>
                <a:lnTo>
                  <a:pt x="0" y="0"/>
                </a:lnTo>
                <a:lnTo>
                  <a:pt x="0" y="11514063"/>
                </a:lnTo>
                <a:lnTo>
                  <a:pt x="20590706" y="11514063"/>
                </a:lnTo>
                <a:lnTo>
                  <a:pt x="20590706" y="0"/>
                </a:lnTo>
                <a:close/>
              </a:path>
            </a:pathLst>
          </a:custGeom>
          <a:blipFill rotWithShape="1">
            <a:blip r:embed="rId3"/>
            <a:stretch>
              <a:fillRect t="-589"/>
            </a:stretch>
          </a:blipFill>
          <a:ln>
            <a:noFill/>
          </a:ln>
        </p:spPr>
        <p:txBody>
          <a:bodyPr/>
          <a:lstStyle/>
          <a:p>
            <a:endParaRPr lang="en-PH"/>
          </a:p>
        </p:txBody>
      </p:sp>
      <p:sp>
        <p:nvSpPr>
          <p:cNvPr id="382" name="Google Shape;382;p36">
            <a:extLst>
              <a:ext uri="{FF2B5EF4-FFF2-40B4-BE49-F238E27FC236}">
                <a16:creationId xmlns:a16="http://schemas.microsoft.com/office/drawing/2014/main" id="{5934CFE5-B1DD-5A9D-CF6D-2FDDA4EBA662}"/>
              </a:ext>
            </a:extLst>
          </p:cNvPr>
          <p:cNvSpPr txBox="1"/>
          <p:nvPr/>
        </p:nvSpPr>
        <p:spPr>
          <a:xfrm>
            <a:off x="1042313" y="780921"/>
            <a:ext cx="9525034" cy="1097865"/>
          </a:xfrm>
          <a:prstGeom prst="rect">
            <a:avLst/>
          </a:prstGeom>
          <a:noFill/>
          <a:ln>
            <a:noFill/>
          </a:ln>
        </p:spPr>
        <p:txBody>
          <a:bodyPr spcFirstLastPara="1" wrap="square" lIns="0" tIns="0" rIns="0" bIns="0" anchor="t" anchorCtr="0">
            <a:spAutoFit/>
          </a:bodyPr>
          <a:lstStyle/>
          <a:p>
            <a:pPr marL="0" marR="0" lvl="0" indent="0" algn="l" rtl="0">
              <a:lnSpc>
                <a:spcPct val="123000"/>
              </a:lnSpc>
              <a:spcBef>
                <a:spcPts val="0"/>
              </a:spcBef>
              <a:spcAft>
                <a:spcPts val="0"/>
              </a:spcAft>
              <a:buClr>
                <a:srgbClr val="000000"/>
              </a:buClr>
              <a:buSzPts val="5800"/>
              <a:buFont typeface="Arial" panose="020B0604020202020204"/>
              <a:buNone/>
            </a:pPr>
            <a:r>
              <a:rPr lang="en-US" sz="5800" b="1" i="0" u="none" strike="noStrike" cap="none">
                <a:solidFill>
                  <a:srgbClr val="000000"/>
                </a:solidFill>
                <a:latin typeface="Century Gothic" panose="020B0502020202020204"/>
                <a:ea typeface="Century Gothic" panose="020B0502020202020204"/>
                <a:cs typeface="Century Gothic" panose="020B0502020202020204"/>
                <a:sym typeface="Century Gothic" panose="020B0502020202020204"/>
              </a:rPr>
              <a:t>SYSTEM HARDWARE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83" name="Google Shape;383;p36">
            <a:extLst>
              <a:ext uri="{FF2B5EF4-FFF2-40B4-BE49-F238E27FC236}">
                <a16:creationId xmlns:a16="http://schemas.microsoft.com/office/drawing/2014/main" id="{4619E9B1-BDAE-7DE1-CBB0-4A9138453182}"/>
              </a:ext>
            </a:extLst>
          </p:cNvPr>
          <p:cNvGrpSpPr/>
          <p:nvPr/>
        </p:nvGrpSpPr>
        <p:grpSpPr>
          <a:xfrm>
            <a:off x="818311" y="1735422"/>
            <a:ext cx="8211389" cy="256118"/>
            <a:chOff x="0" y="0"/>
            <a:chExt cx="10948519" cy="341491"/>
          </a:xfrm>
        </p:grpSpPr>
        <p:cxnSp>
          <p:nvCxnSpPr>
            <p:cNvPr id="384" name="Google Shape;384;p36">
              <a:extLst>
                <a:ext uri="{FF2B5EF4-FFF2-40B4-BE49-F238E27FC236}">
                  <a16:creationId xmlns:a16="http://schemas.microsoft.com/office/drawing/2014/main" id="{F675704A-D317-54C7-435C-1973CE0A6954}"/>
                </a:ext>
              </a:extLst>
            </p:cNvPr>
            <p:cNvCxnSpPr/>
            <p:nvPr/>
          </p:nvCxnSpPr>
          <p:spPr>
            <a:xfrm>
              <a:off x="298669" y="170745"/>
              <a:ext cx="10308358" cy="0"/>
            </a:xfrm>
            <a:prstGeom prst="straightConnector1">
              <a:avLst/>
            </a:prstGeom>
            <a:noFill/>
            <a:ln w="50800" cap="flat" cmpd="sng">
              <a:solidFill>
                <a:srgbClr val="000000"/>
              </a:solidFill>
              <a:prstDash val="solid"/>
              <a:round/>
              <a:headEnd type="none" w="sm" len="sm"/>
              <a:tailEnd type="none" w="sm" len="sm"/>
            </a:ln>
          </p:spPr>
        </p:cxnSp>
        <p:grpSp>
          <p:nvGrpSpPr>
            <p:cNvPr id="385" name="Google Shape;385;p36">
              <a:extLst>
                <a:ext uri="{FF2B5EF4-FFF2-40B4-BE49-F238E27FC236}">
                  <a16:creationId xmlns:a16="http://schemas.microsoft.com/office/drawing/2014/main" id="{B9F38A6B-5943-D7D6-92EF-A882DAC478D1}"/>
                </a:ext>
              </a:extLst>
            </p:cNvPr>
            <p:cNvGrpSpPr/>
            <p:nvPr/>
          </p:nvGrpSpPr>
          <p:grpSpPr>
            <a:xfrm>
              <a:off x="10607028" y="0"/>
              <a:ext cx="341491" cy="341491"/>
              <a:chOff x="0" y="0"/>
              <a:chExt cx="812800" cy="812800"/>
            </a:xfrm>
          </p:grpSpPr>
          <p:sp>
            <p:nvSpPr>
              <p:cNvPr id="386" name="Google Shape;386;p36">
                <a:extLst>
                  <a:ext uri="{FF2B5EF4-FFF2-40B4-BE49-F238E27FC236}">
                    <a16:creationId xmlns:a16="http://schemas.microsoft.com/office/drawing/2014/main" id="{D1D62E06-4BD8-D14B-D235-BAD3B76AC4EB}"/>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7" name="Google Shape;387;p36">
                <a:extLst>
                  <a:ext uri="{FF2B5EF4-FFF2-40B4-BE49-F238E27FC236}">
                    <a16:creationId xmlns:a16="http://schemas.microsoft.com/office/drawing/2014/main" id="{A6327EF4-B934-FD26-EA72-66A93E96E115}"/>
                  </a:ext>
                </a:extLst>
              </p:cNvPr>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388" name="Google Shape;388;p36">
              <a:extLst>
                <a:ext uri="{FF2B5EF4-FFF2-40B4-BE49-F238E27FC236}">
                  <a16:creationId xmlns:a16="http://schemas.microsoft.com/office/drawing/2014/main" id="{BA4139B2-8C70-7036-35C7-269B96DD713A}"/>
                </a:ext>
              </a:extLst>
            </p:cNvPr>
            <p:cNvGrpSpPr/>
            <p:nvPr/>
          </p:nvGrpSpPr>
          <p:grpSpPr>
            <a:xfrm>
              <a:off x="0" y="0"/>
              <a:ext cx="341491" cy="341491"/>
              <a:chOff x="0" y="0"/>
              <a:chExt cx="812800" cy="812800"/>
            </a:xfrm>
          </p:grpSpPr>
          <p:sp>
            <p:nvSpPr>
              <p:cNvPr id="389" name="Google Shape;389;p36">
                <a:extLst>
                  <a:ext uri="{FF2B5EF4-FFF2-40B4-BE49-F238E27FC236}">
                    <a16:creationId xmlns:a16="http://schemas.microsoft.com/office/drawing/2014/main" id="{C9559C7E-6371-CD9F-3F15-469C3D43626F}"/>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0" name="Google Shape;390;p36">
                <a:extLst>
                  <a:ext uri="{FF2B5EF4-FFF2-40B4-BE49-F238E27FC236}">
                    <a16:creationId xmlns:a16="http://schemas.microsoft.com/office/drawing/2014/main" id="{434F3FC5-7AC3-DC27-E51D-5903D55102AD}"/>
                  </a:ext>
                </a:extLst>
              </p:cNvPr>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pic>
        <p:nvPicPr>
          <p:cNvPr id="391" name="Google Shape;391;p36">
            <a:extLst>
              <a:ext uri="{FF2B5EF4-FFF2-40B4-BE49-F238E27FC236}">
                <a16:creationId xmlns:a16="http://schemas.microsoft.com/office/drawing/2014/main" id="{46050577-0467-D03B-6E9D-1A7EB3B276F6}"/>
              </a:ext>
            </a:extLst>
          </p:cNvPr>
          <p:cNvPicPr preferRelativeResize="0"/>
          <p:nvPr/>
        </p:nvPicPr>
        <p:blipFill rotWithShape="1">
          <a:blip r:embed="rId4"/>
          <a:srcRect/>
          <a:stretch>
            <a:fillRect/>
          </a:stretch>
        </p:blipFill>
        <p:spPr>
          <a:xfrm>
            <a:off x="16865328" y="147008"/>
            <a:ext cx="1621801" cy="1634181"/>
          </a:xfrm>
          <a:prstGeom prst="rect">
            <a:avLst/>
          </a:prstGeom>
          <a:noFill/>
          <a:ln>
            <a:noFill/>
          </a:ln>
        </p:spPr>
      </p:pic>
      <p:pic>
        <p:nvPicPr>
          <p:cNvPr id="392" name="Google Shape;392;p36">
            <a:extLst>
              <a:ext uri="{FF2B5EF4-FFF2-40B4-BE49-F238E27FC236}">
                <a16:creationId xmlns:a16="http://schemas.microsoft.com/office/drawing/2014/main" id="{C67FBFEF-7020-58C6-6857-4F16AB9ED1DE}"/>
              </a:ext>
            </a:extLst>
          </p:cNvPr>
          <p:cNvPicPr preferRelativeResize="0"/>
          <p:nvPr/>
        </p:nvPicPr>
        <p:blipFill rotWithShape="1">
          <a:blip r:embed="rId5"/>
          <a:srcRect/>
          <a:stretch>
            <a:fillRect/>
          </a:stretch>
        </p:blipFill>
        <p:spPr>
          <a:xfrm>
            <a:off x="14785753" y="67490"/>
            <a:ext cx="1943100" cy="1924050"/>
          </a:xfrm>
          <a:prstGeom prst="rect">
            <a:avLst/>
          </a:prstGeom>
          <a:noFill/>
          <a:ln>
            <a:noFill/>
          </a:ln>
        </p:spPr>
      </p:pic>
      <p:sp>
        <p:nvSpPr>
          <p:cNvPr id="395" name="Google Shape;395;p36">
            <a:extLst>
              <a:ext uri="{FF2B5EF4-FFF2-40B4-BE49-F238E27FC236}">
                <a16:creationId xmlns:a16="http://schemas.microsoft.com/office/drawing/2014/main" id="{53B9CC3A-912E-E663-AD03-46DC5E4BBE0F}"/>
              </a:ext>
            </a:extLst>
          </p:cNvPr>
          <p:cNvSpPr txBox="1"/>
          <p:nvPr/>
        </p:nvSpPr>
        <p:spPr>
          <a:xfrm>
            <a:off x="1670110" y="2438126"/>
            <a:ext cx="3529652"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panose="020B0604020202020204"/>
                <a:ea typeface="Arial" panose="020B0604020202020204"/>
                <a:cs typeface="Arial" panose="020B0604020202020204"/>
                <a:sym typeface="Arial" panose="020B0604020202020204"/>
              </a:rPr>
              <a:t>Circuit Diagram</a:t>
            </a:r>
            <a:endParaRPr sz="4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pic>
        <p:nvPicPr>
          <p:cNvPr id="11" name="Picture 10">
            <a:extLst>
              <a:ext uri="{FF2B5EF4-FFF2-40B4-BE49-F238E27FC236}">
                <a16:creationId xmlns:a16="http://schemas.microsoft.com/office/drawing/2014/main" id="{B7B59417-7C7D-008C-AEDA-FD0044FC6ED1}"/>
              </a:ext>
            </a:extLst>
          </p:cNvPr>
          <p:cNvPicPr>
            <a:picLocks noChangeAspect="1"/>
          </p:cNvPicPr>
          <p:nvPr/>
        </p:nvPicPr>
        <p:blipFill>
          <a:blip r:embed="rId6"/>
          <a:srcRect l="22230" r="5694" b="2340"/>
          <a:stretch>
            <a:fillRect/>
          </a:stretch>
        </p:blipFill>
        <p:spPr>
          <a:xfrm>
            <a:off x="4730147" y="2345192"/>
            <a:ext cx="8342987" cy="6358764"/>
          </a:xfrm>
          <a:prstGeom prst="rect">
            <a:avLst/>
          </a:prstGeom>
        </p:spPr>
      </p:pic>
    </p:spTree>
    <p:extLst>
      <p:ext uri="{BB962C8B-B14F-4D97-AF65-F5344CB8AC3E}">
        <p14:creationId xmlns:p14="http://schemas.microsoft.com/office/powerpoint/2010/main" val="2368137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37"/>
          <p:cNvSpPr/>
          <p:nvPr/>
        </p:nvSpPr>
        <p:spPr>
          <a:xfrm flipH="1">
            <a:off x="-3" y="1"/>
            <a:ext cx="18288002" cy="10286999"/>
          </a:xfrm>
          <a:custGeom>
            <a:avLst/>
            <a:gdLst/>
            <a:ahLst/>
            <a:cxnLst/>
            <a:rect l="l" t="t" r="r" b="b"/>
            <a:pathLst>
              <a:path w="20590706" h="11514063" extrusionOk="0">
                <a:moveTo>
                  <a:pt x="20590706" y="0"/>
                </a:moveTo>
                <a:lnTo>
                  <a:pt x="0" y="0"/>
                </a:lnTo>
                <a:lnTo>
                  <a:pt x="0" y="11514063"/>
                </a:lnTo>
                <a:lnTo>
                  <a:pt x="20590706" y="11514063"/>
                </a:lnTo>
                <a:lnTo>
                  <a:pt x="20590706" y="0"/>
                </a:lnTo>
                <a:close/>
              </a:path>
            </a:pathLst>
          </a:custGeom>
          <a:blipFill rotWithShape="1">
            <a:blip r:embed="rId3"/>
            <a:stretch>
              <a:fillRect t="-589"/>
            </a:stretch>
          </a:blipFill>
          <a:ln>
            <a:noFill/>
          </a:ln>
        </p:spPr>
        <p:txBody>
          <a:bodyPr/>
          <a:lstStyle/>
          <a:p>
            <a:endParaRPr lang="en-PH"/>
          </a:p>
        </p:txBody>
      </p:sp>
      <p:sp>
        <p:nvSpPr>
          <p:cNvPr id="402" name="Google Shape;402;p37"/>
          <p:cNvSpPr txBox="1"/>
          <p:nvPr/>
        </p:nvSpPr>
        <p:spPr>
          <a:xfrm>
            <a:off x="822420" y="385792"/>
            <a:ext cx="16430626" cy="1097865"/>
          </a:xfrm>
          <a:prstGeom prst="rect">
            <a:avLst/>
          </a:prstGeom>
          <a:noFill/>
          <a:ln>
            <a:noFill/>
          </a:ln>
        </p:spPr>
        <p:txBody>
          <a:bodyPr spcFirstLastPara="1" wrap="square" lIns="0" tIns="0" rIns="0" bIns="0" anchor="t" anchorCtr="0">
            <a:spAutoFit/>
          </a:bodyPr>
          <a:lstStyle/>
          <a:p>
            <a:pPr marL="0" marR="0" lvl="0" indent="0" algn="l" rtl="0">
              <a:lnSpc>
                <a:spcPct val="123000"/>
              </a:lnSpc>
              <a:spcBef>
                <a:spcPts val="0"/>
              </a:spcBef>
              <a:spcAft>
                <a:spcPts val="0"/>
              </a:spcAft>
              <a:buClr>
                <a:srgbClr val="000000"/>
              </a:buClr>
              <a:buSzPts val="5800"/>
              <a:buFont typeface="Arial" panose="020B0604020202020204"/>
              <a:buNone/>
            </a:pPr>
            <a:r>
              <a:rPr lang="en-US" sz="5800" b="1" dirty="0">
                <a:latin typeface="Century Gothic" panose="020B0502020202020204"/>
                <a:ea typeface="Century Gothic" panose="020B0502020202020204"/>
                <a:cs typeface="Century Gothic" panose="020B0502020202020204"/>
                <a:sym typeface="Century Gothic" panose="020B0502020202020204"/>
              </a:rPr>
              <a:t>G </a:t>
            </a:r>
            <a:r>
              <a:rPr lang="en-US" sz="5800" b="1" dirty="0" err="1">
                <a:latin typeface="Century Gothic" panose="020B0502020202020204"/>
                <a:ea typeface="Century Gothic" panose="020B0502020202020204"/>
                <a:cs typeface="Century Gothic" panose="020B0502020202020204"/>
                <a:sym typeface="Century Gothic" panose="020B0502020202020204"/>
              </a:rPr>
              <a:t>raphical</a:t>
            </a:r>
            <a:r>
              <a:rPr lang="en-US" sz="5800" b="1" dirty="0">
                <a:latin typeface="Century Gothic" panose="020B0502020202020204"/>
                <a:ea typeface="Century Gothic" panose="020B0502020202020204"/>
                <a:cs typeface="Century Gothic" panose="020B0502020202020204"/>
                <a:sym typeface="Century Gothic" panose="020B0502020202020204"/>
              </a:rPr>
              <a:t> </a:t>
            </a:r>
            <a:r>
              <a:rPr lang="en-US" sz="5800" b="1" i="0" strike="noStrike" cap="none" dirty="0">
                <a:solidFill>
                  <a:srgbClr val="000000"/>
                </a:solidFill>
                <a:latin typeface="Century Gothic" panose="020B0502020202020204"/>
                <a:ea typeface="Century Gothic" panose="020B0502020202020204"/>
                <a:cs typeface="Century Gothic" panose="020B0502020202020204"/>
                <a:sym typeface="Century Gothic" panose="020B0502020202020204"/>
              </a:rPr>
              <a:t>UI</a:t>
            </a:r>
            <a:endParaRPr sz="1400" b="0" i="0"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403" name="Google Shape;403;p37"/>
          <p:cNvGrpSpPr/>
          <p:nvPr/>
        </p:nvGrpSpPr>
        <p:grpSpPr>
          <a:xfrm>
            <a:off x="822420" y="1333859"/>
            <a:ext cx="3750308" cy="262715"/>
            <a:chOff x="0" y="0"/>
            <a:chExt cx="10948519" cy="341491"/>
          </a:xfrm>
        </p:grpSpPr>
        <p:cxnSp>
          <p:nvCxnSpPr>
            <p:cNvPr id="404" name="Google Shape;404;p37"/>
            <p:cNvCxnSpPr/>
            <p:nvPr/>
          </p:nvCxnSpPr>
          <p:spPr>
            <a:xfrm>
              <a:off x="298669" y="170745"/>
              <a:ext cx="10308358" cy="0"/>
            </a:xfrm>
            <a:prstGeom prst="straightConnector1">
              <a:avLst/>
            </a:prstGeom>
            <a:noFill/>
            <a:ln w="50800" cap="flat" cmpd="sng">
              <a:solidFill>
                <a:srgbClr val="000000"/>
              </a:solidFill>
              <a:prstDash val="solid"/>
              <a:round/>
              <a:headEnd type="none" w="sm" len="sm"/>
              <a:tailEnd type="none" w="sm" len="sm"/>
            </a:ln>
          </p:spPr>
        </p:cxnSp>
        <p:grpSp>
          <p:nvGrpSpPr>
            <p:cNvPr id="405" name="Google Shape;405;p37"/>
            <p:cNvGrpSpPr/>
            <p:nvPr/>
          </p:nvGrpSpPr>
          <p:grpSpPr>
            <a:xfrm>
              <a:off x="10607028" y="0"/>
              <a:ext cx="341491" cy="341491"/>
              <a:chOff x="0" y="0"/>
              <a:chExt cx="812800" cy="812800"/>
            </a:xfrm>
          </p:grpSpPr>
          <p:sp>
            <p:nvSpPr>
              <p:cNvPr id="406" name="Google Shape;406;p3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7" name="Google Shape;407;p37"/>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408" name="Google Shape;408;p37"/>
            <p:cNvGrpSpPr/>
            <p:nvPr/>
          </p:nvGrpSpPr>
          <p:grpSpPr>
            <a:xfrm>
              <a:off x="0" y="0"/>
              <a:ext cx="341491" cy="341491"/>
              <a:chOff x="0" y="0"/>
              <a:chExt cx="812800" cy="812800"/>
            </a:xfrm>
          </p:grpSpPr>
          <p:sp>
            <p:nvSpPr>
              <p:cNvPr id="409" name="Google Shape;409;p3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4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10" name="Google Shape;410;p37"/>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8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pic>
        <p:nvPicPr>
          <p:cNvPr id="411" name="Google Shape;411;p37"/>
          <p:cNvPicPr preferRelativeResize="0"/>
          <p:nvPr/>
        </p:nvPicPr>
        <p:blipFill rotWithShape="1">
          <a:blip r:embed="rId4"/>
          <a:srcRect/>
          <a:stretch>
            <a:fillRect/>
          </a:stretch>
        </p:blipFill>
        <p:spPr>
          <a:xfrm>
            <a:off x="16865328" y="147008"/>
            <a:ext cx="1621801" cy="1634181"/>
          </a:xfrm>
          <a:prstGeom prst="rect">
            <a:avLst/>
          </a:prstGeom>
          <a:noFill/>
          <a:ln>
            <a:noFill/>
          </a:ln>
        </p:spPr>
      </p:pic>
      <p:pic>
        <p:nvPicPr>
          <p:cNvPr id="412" name="Google Shape;412;p37"/>
          <p:cNvPicPr preferRelativeResize="0"/>
          <p:nvPr/>
        </p:nvPicPr>
        <p:blipFill rotWithShape="1">
          <a:blip r:embed="rId5"/>
          <a:srcRect/>
          <a:stretch>
            <a:fillRect/>
          </a:stretch>
        </p:blipFill>
        <p:spPr>
          <a:xfrm>
            <a:off x="14785753" y="67490"/>
            <a:ext cx="1943100" cy="1924050"/>
          </a:xfrm>
          <a:prstGeom prst="rect">
            <a:avLst/>
          </a:prstGeom>
          <a:noFill/>
          <a:ln>
            <a:noFill/>
          </a:ln>
        </p:spPr>
      </p:pic>
      <p:pic>
        <p:nvPicPr>
          <p:cNvPr id="3" name="Picture 2">
            <a:extLst>
              <a:ext uri="{FF2B5EF4-FFF2-40B4-BE49-F238E27FC236}">
                <a16:creationId xmlns:a16="http://schemas.microsoft.com/office/drawing/2014/main" id="{A9A031B4-E719-320D-8A0F-36C108FD543B}"/>
              </a:ext>
            </a:extLst>
          </p:cNvPr>
          <p:cNvPicPr>
            <a:picLocks noChangeAspect="1"/>
          </p:cNvPicPr>
          <p:nvPr/>
        </p:nvPicPr>
        <p:blipFill>
          <a:blip r:embed="rId6"/>
          <a:stretch>
            <a:fillRect/>
          </a:stretch>
        </p:blipFill>
        <p:spPr>
          <a:xfrm>
            <a:off x="3694297" y="1571945"/>
            <a:ext cx="10686871" cy="6412123"/>
          </a:xfrm>
          <a:prstGeom prst="rect">
            <a:avLst/>
          </a:prstGeom>
        </p:spPr>
      </p:pic>
      <p:sp>
        <p:nvSpPr>
          <p:cNvPr id="5" name="Google Shape;396;p36">
            <a:extLst>
              <a:ext uri="{FF2B5EF4-FFF2-40B4-BE49-F238E27FC236}">
                <a16:creationId xmlns:a16="http://schemas.microsoft.com/office/drawing/2014/main" id="{8B0CA525-41B4-9849-4081-A787728E6D74}"/>
              </a:ext>
            </a:extLst>
          </p:cNvPr>
          <p:cNvSpPr txBox="1"/>
          <p:nvPr/>
        </p:nvSpPr>
        <p:spPr>
          <a:xfrm>
            <a:off x="9814560" y="8072356"/>
            <a:ext cx="4800505" cy="523180"/>
          </a:xfrm>
          <a:prstGeom prst="rect">
            <a:avLst/>
          </a:prstGeom>
          <a:noFill/>
          <a:ln>
            <a:noFill/>
          </a:ln>
        </p:spPr>
        <p:txBody>
          <a:bodyPr spcFirstLastPara="1" wrap="square" lIns="91425" tIns="45700" rIns="91425" bIns="45700" anchor="t" anchorCtr="0">
            <a:spAutoFit/>
          </a:bodyPr>
          <a:lstStyle/>
          <a:p>
            <a:pPr lvl="0"/>
            <a:r>
              <a:rPr lang="en-PH" b="1" dirty="0"/>
              <a:t>a single-screen, localized, and high-contrast Human-Machine Interface (HMI) smart dashboard</a:t>
            </a:r>
            <a:endParaRPr sz="4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5">
          <a:extLst>
            <a:ext uri="{FF2B5EF4-FFF2-40B4-BE49-F238E27FC236}">
              <a16:creationId xmlns:a16="http://schemas.microsoft.com/office/drawing/2014/main" id="{67FEF8D6-2750-EAED-119B-DD7BF07C4F8A}"/>
            </a:ext>
          </a:extLst>
        </p:cNvPr>
        <p:cNvGrpSpPr/>
        <p:nvPr/>
      </p:nvGrpSpPr>
      <p:grpSpPr>
        <a:xfrm>
          <a:off x="0" y="0"/>
          <a:ext cx="0" cy="0"/>
          <a:chOff x="0" y="0"/>
          <a:chExt cx="0" cy="0"/>
        </a:xfrm>
      </p:grpSpPr>
      <p:pic>
        <p:nvPicPr>
          <p:cNvPr id="66" name="Google Shape;66;p1">
            <a:extLst>
              <a:ext uri="{FF2B5EF4-FFF2-40B4-BE49-F238E27FC236}">
                <a16:creationId xmlns:a16="http://schemas.microsoft.com/office/drawing/2014/main" id="{A2023FA2-3068-4C21-9443-B2D88DEBD30B}"/>
              </a:ext>
            </a:extLst>
          </p:cNvPr>
          <p:cNvPicPr preferRelativeResize="0"/>
          <p:nvPr/>
        </p:nvPicPr>
        <p:blipFill rotWithShape="1">
          <a:blip r:embed="rId3"/>
          <a:srcRect/>
          <a:stretch>
            <a:fillRect/>
          </a:stretch>
        </p:blipFill>
        <p:spPr>
          <a:xfrm>
            <a:off x="1" y="0"/>
            <a:ext cx="18288000" cy="10287000"/>
          </a:xfrm>
          <a:prstGeom prst="rect">
            <a:avLst/>
          </a:prstGeom>
          <a:noFill/>
          <a:ln>
            <a:noFill/>
          </a:ln>
        </p:spPr>
      </p:pic>
      <p:sp>
        <p:nvSpPr>
          <p:cNvPr id="67" name="Google Shape;67;p1">
            <a:extLst>
              <a:ext uri="{FF2B5EF4-FFF2-40B4-BE49-F238E27FC236}">
                <a16:creationId xmlns:a16="http://schemas.microsoft.com/office/drawing/2014/main" id="{55945451-5C80-5877-22AA-031E30C7C518}"/>
              </a:ext>
            </a:extLst>
          </p:cNvPr>
          <p:cNvSpPr txBox="1"/>
          <p:nvPr/>
        </p:nvSpPr>
        <p:spPr>
          <a:xfrm>
            <a:off x="1615397" y="2731842"/>
            <a:ext cx="15057205" cy="2782300"/>
          </a:xfrm>
          <a:prstGeom prst="rect">
            <a:avLst/>
          </a:prstGeom>
          <a:noFill/>
          <a:ln>
            <a:noFill/>
          </a:ln>
        </p:spPr>
        <p:txBody>
          <a:bodyPr spcFirstLastPara="1" wrap="square" lIns="0" tIns="0" rIns="0" bIns="0" anchor="t" anchorCtr="0">
            <a:spAutoFit/>
          </a:bodyPr>
          <a:lstStyle/>
          <a:p>
            <a:pPr marL="0" marR="0" lvl="0" indent="0" algn="ctr" rtl="0">
              <a:lnSpc>
                <a:spcPct val="113000"/>
              </a:lnSpc>
              <a:spcBef>
                <a:spcPts val="0"/>
              </a:spcBef>
              <a:spcAft>
                <a:spcPts val="0"/>
              </a:spcAft>
              <a:buClr>
                <a:srgbClr val="000000"/>
              </a:buClr>
              <a:buSzPts val="5000"/>
              <a:buFont typeface="Arial" panose="020B0604020202020204"/>
              <a:buNone/>
            </a:pPr>
            <a:r>
              <a:rPr lang="en-US" sz="16000" b="1" i="0" u="none" strike="noStrike" cap="none" dirty="0">
                <a:solidFill>
                  <a:srgbClr val="000000"/>
                </a:solidFill>
                <a:latin typeface="Century Gothic" panose="020B0502020202020204"/>
                <a:ea typeface="Century Gothic" panose="020B0502020202020204"/>
                <a:cs typeface="Century Gothic" panose="020B0502020202020204"/>
                <a:sym typeface="Century Gothic" panose="020B0502020202020204"/>
              </a:rPr>
              <a:t>THANK YOU</a:t>
            </a:r>
            <a:endParaRPr lang="en-US" altLang="en-US" sz="16000" b="1" i="0" u="none" strike="noStrike" cap="none" dirty="0">
              <a:solidFill>
                <a:srgbClr val="000000"/>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68" name="Google Shape;68;p1">
            <a:extLst>
              <a:ext uri="{FF2B5EF4-FFF2-40B4-BE49-F238E27FC236}">
                <a16:creationId xmlns:a16="http://schemas.microsoft.com/office/drawing/2014/main" id="{8C415EBA-D08E-3811-FA8F-5C7C54B263A4}"/>
              </a:ext>
            </a:extLst>
          </p:cNvPr>
          <p:cNvSpPr txBox="1"/>
          <p:nvPr/>
        </p:nvSpPr>
        <p:spPr>
          <a:xfrm>
            <a:off x="6526985" y="5143500"/>
            <a:ext cx="5441315" cy="332394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0" i="0" u="none" strike="noStrike" cap="none" dirty="0">
                <a:solidFill>
                  <a:srgbClr val="000000"/>
                </a:solidFill>
                <a:latin typeface="Arial" panose="020B0604020202020204"/>
                <a:ea typeface="Arial" panose="020B0604020202020204"/>
                <a:cs typeface="Arial" panose="020B0604020202020204"/>
                <a:sym typeface="Arial" panose="020B0604020202020204"/>
              </a:rPr>
              <a:t>Group No.16 - </a:t>
            </a:r>
            <a:r>
              <a:rPr lang="en-US" sz="2800" b="0" i="0" u="none" strike="noStrike" cap="none" dirty="0" err="1">
                <a:solidFill>
                  <a:srgbClr val="000000"/>
                </a:solidFill>
                <a:latin typeface="Arial" panose="020B0604020202020204"/>
                <a:ea typeface="Arial" panose="020B0604020202020204"/>
                <a:cs typeface="Arial" panose="020B0604020202020204"/>
                <a:sym typeface="Arial" panose="020B0604020202020204"/>
              </a:rPr>
              <a:t>BSCpE</a:t>
            </a:r>
            <a:r>
              <a:rPr lang="en-US" sz="2800" b="0" i="0" u="none" strike="noStrike" cap="none" dirty="0">
                <a:solidFill>
                  <a:srgbClr val="000000"/>
                </a:solidFill>
                <a:latin typeface="Arial" panose="020B0604020202020204"/>
                <a:ea typeface="Arial" panose="020B0604020202020204"/>
                <a:cs typeface="Arial" panose="020B0604020202020204"/>
                <a:sym typeface="Arial" panose="020B0604020202020204"/>
              </a:rPr>
              <a:t> 4B</a:t>
            </a:r>
          </a:p>
          <a:p>
            <a:pPr marL="0" marR="0" lvl="0" indent="0" algn="l" rtl="0">
              <a:lnSpc>
                <a:spcPct val="100000"/>
              </a:lnSpc>
              <a:spcBef>
                <a:spcPts val="0"/>
              </a:spcBef>
              <a:spcAft>
                <a:spcPts val="0"/>
              </a:spcAft>
              <a:buNone/>
            </a:pPr>
            <a:r>
              <a:rPr lang="en-US" sz="2800" b="0"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p>
          <a:p>
            <a:pPr marR="0" lvl="0" algn="ctr" rtl="0">
              <a:lnSpc>
                <a:spcPct val="100000"/>
              </a:lnSpc>
              <a:spcBef>
                <a:spcPts val="0"/>
              </a:spcBef>
              <a:spcAft>
                <a:spcPts val="0"/>
              </a:spcAft>
            </a:pPr>
            <a:r>
              <a:rPr lang="en-US" altLang="en-US" sz="2800" b="0" i="0" u="none" strike="noStrike" cap="none" dirty="0">
                <a:solidFill>
                  <a:srgbClr val="000000"/>
                </a:solidFill>
                <a:latin typeface="Arial" panose="020B0604020202020204"/>
                <a:ea typeface="Arial" panose="020B0604020202020204"/>
                <a:cs typeface="Arial" panose="020B0604020202020204"/>
                <a:sym typeface="Arial" panose="020B0604020202020204"/>
              </a:rPr>
              <a:t>Shanice C. </a:t>
            </a:r>
            <a:r>
              <a:rPr lang="en-US" altLang="en-US" sz="2800" b="0" i="0" u="none" strike="noStrike" cap="none" dirty="0" err="1">
                <a:solidFill>
                  <a:srgbClr val="000000"/>
                </a:solidFill>
                <a:latin typeface="Arial" panose="020B0604020202020204"/>
                <a:ea typeface="Arial" panose="020B0604020202020204"/>
                <a:cs typeface="Arial" panose="020B0604020202020204"/>
                <a:sym typeface="Arial" panose="020B0604020202020204"/>
              </a:rPr>
              <a:t>Omalsa</a:t>
            </a:r>
            <a:endParaRPr lang="en-US" altLang="en-US" sz="28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R="0" lvl="0" algn="ctr" rtl="0">
              <a:lnSpc>
                <a:spcPct val="100000"/>
              </a:lnSpc>
              <a:spcBef>
                <a:spcPts val="0"/>
              </a:spcBef>
              <a:spcAft>
                <a:spcPts val="0"/>
              </a:spcAft>
            </a:pPr>
            <a:r>
              <a:rPr lang="en-US" altLang="en-US" sz="2800" b="0" i="0" u="none" strike="noStrike" cap="none" dirty="0" err="1">
                <a:solidFill>
                  <a:srgbClr val="000000"/>
                </a:solidFill>
                <a:latin typeface="Arial" panose="020B0604020202020204"/>
                <a:ea typeface="Arial" panose="020B0604020202020204"/>
                <a:cs typeface="Arial" panose="020B0604020202020204"/>
                <a:sym typeface="Arial" panose="020B0604020202020204"/>
              </a:rPr>
              <a:t>Arjole</a:t>
            </a:r>
            <a:r>
              <a:rPr lang="en-US" altLang="en-US" sz="2800" b="0" i="0" u="none" strike="noStrike" cap="none" dirty="0">
                <a:solidFill>
                  <a:srgbClr val="000000"/>
                </a:solidFill>
                <a:latin typeface="Arial" panose="020B0604020202020204"/>
                <a:ea typeface="Arial" panose="020B0604020202020204"/>
                <a:cs typeface="Arial" panose="020B0604020202020204"/>
                <a:sym typeface="Arial" panose="020B0604020202020204"/>
              </a:rPr>
              <a:t> Jan B. </a:t>
            </a:r>
            <a:r>
              <a:rPr lang="en-US" altLang="en-US" sz="2800" b="0" i="0" u="none" strike="noStrike" cap="none" dirty="0" err="1">
                <a:solidFill>
                  <a:srgbClr val="000000"/>
                </a:solidFill>
                <a:latin typeface="Arial" panose="020B0604020202020204"/>
                <a:ea typeface="Arial" panose="020B0604020202020204"/>
                <a:cs typeface="Arial" panose="020B0604020202020204"/>
                <a:sym typeface="Arial" panose="020B0604020202020204"/>
              </a:rPr>
              <a:t>Fostanes</a:t>
            </a:r>
            <a:endParaRPr lang="en-US" altLang="en-US" sz="28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R="0" lvl="0" algn="ctr" rtl="0">
              <a:lnSpc>
                <a:spcPct val="100000"/>
              </a:lnSpc>
              <a:spcBef>
                <a:spcPts val="0"/>
              </a:spcBef>
              <a:spcAft>
                <a:spcPts val="0"/>
              </a:spcAft>
            </a:pPr>
            <a:r>
              <a:rPr lang="en-US" altLang="en-US" sz="2800" b="0" i="0" u="none" strike="noStrike" cap="none" dirty="0">
                <a:solidFill>
                  <a:srgbClr val="000000"/>
                </a:solidFill>
                <a:latin typeface="Arial" panose="020B0604020202020204"/>
                <a:ea typeface="Arial" panose="020B0604020202020204"/>
                <a:cs typeface="Arial" panose="020B0604020202020204"/>
                <a:sym typeface="Arial" panose="020B0604020202020204"/>
              </a:rPr>
              <a:t>Jhay Ann B. Remoreras</a:t>
            </a:r>
          </a:p>
          <a:p>
            <a:pPr marR="0" lvl="0" algn="ctr" rtl="0">
              <a:lnSpc>
                <a:spcPct val="100000"/>
              </a:lnSpc>
              <a:spcBef>
                <a:spcPts val="0"/>
              </a:spcBef>
              <a:spcAft>
                <a:spcPts val="0"/>
              </a:spcAft>
            </a:pPr>
            <a:r>
              <a:rPr lang="en-US" altLang="en-US" sz="2800" b="0" i="0" u="none" strike="noStrike" cap="none" dirty="0">
                <a:solidFill>
                  <a:srgbClr val="000000"/>
                </a:solidFill>
                <a:latin typeface="Arial" panose="020B0604020202020204"/>
                <a:ea typeface="Arial" panose="020B0604020202020204"/>
                <a:cs typeface="Arial" panose="020B0604020202020204"/>
                <a:sym typeface="Arial" panose="020B0604020202020204"/>
              </a:rPr>
              <a:t>James Carl M. Osio</a:t>
            </a:r>
          </a:p>
          <a:p>
            <a:pPr marL="0" marR="0" lvl="0" indent="0" algn="l" rtl="0">
              <a:lnSpc>
                <a:spcPct val="100000"/>
              </a:lnSpc>
              <a:spcBef>
                <a:spcPts val="0"/>
              </a:spcBef>
              <a:spcAft>
                <a:spcPts val="0"/>
              </a:spcAft>
              <a:buNone/>
            </a:pPr>
            <a:endParaRPr sz="28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pic>
        <p:nvPicPr>
          <p:cNvPr id="69" name="Google Shape;69;p1">
            <a:extLst>
              <a:ext uri="{FF2B5EF4-FFF2-40B4-BE49-F238E27FC236}">
                <a16:creationId xmlns:a16="http://schemas.microsoft.com/office/drawing/2014/main" id="{0AE8CFB7-60E0-C6BE-F965-DBDB7C07026B}"/>
              </a:ext>
            </a:extLst>
          </p:cNvPr>
          <p:cNvPicPr preferRelativeResize="0"/>
          <p:nvPr/>
        </p:nvPicPr>
        <p:blipFill rotWithShape="1">
          <a:blip r:embed="rId4"/>
          <a:srcRect/>
          <a:stretch>
            <a:fillRect/>
          </a:stretch>
        </p:blipFill>
        <p:spPr>
          <a:xfrm>
            <a:off x="2162947" y="305830"/>
            <a:ext cx="1621801" cy="1634181"/>
          </a:xfrm>
          <a:prstGeom prst="rect">
            <a:avLst/>
          </a:prstGeom>
          <a:noFill/>
          <a:ln>
            <a:noFill/>
          </a:ln>
        </p:spPr>
      </p:pic>
      <p:pic>
        <p:nvPicPr>
          <p:cNvPr id="70" name="Google Shape;70;p1">
            <a:extLst>
              <a:ext uri="{FF2B5EF4-FFF2-40B4-BE49-F238E27FC236}">
                <a16:creationId xmlns:a16="http://schemas.microsoft.com/office/drawing/2014/main" id="{712A73F3-213C-E127-4692-18618083C9B9}"/>
              </a:ext>
            </a:extLst>
          </p:cNvPr>
          <p:cNvPicPr preferRelativeResize="0"/>
          <p:nvPr/>
        </p:nvPicPr>
        <p:blipFill rotWithShape="1">
          <a:blip r:embed="rId5"/>
          <a:srcRect/>
          <a:stretch>
            <a:fillRect/>
          </a:stretch>
        </p:blipFill>
        <p:spPr>
          <a:xfrm>
            <a:off x="83372" y="226312"/>
            <a:ext cx="1943100" cy="1924050"/>
          </a:xfrm>
          <a:prstGeom prst="rect">
            <a:avLst/>
          </a:prstGeom>
          <a:noFill/>
          <a:ln>
            <a:noFill/>
          </a:ln>
        </p:spPr>
      </p:pic>
    </p:spTree>
    <p:extLst>
      <p:ext uri="{BB962C8B-B14F-4D97-AF65-F5344CB8AC3E}">
        <p14:creationId xmlns:p14="http://schemas.microsoft.com/office/powerpoint/2010/main" val="103406289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246</TotalTime>
  <Words>1352</Words>
  <Application>Microsoft Office PowerPoint</Application>
  <PresentationFormat>Custom</PresentationFormat>
  <Paragraphs>123</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Calibri</vt:lpstr>
      <vt:lpstr>Arial</vt:lpstr>
      <vt:lpstr>Century Gothic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Jhay ann Remoreras</cp:lastModifiedBy>
  <cp:revision>7</cp:revision>
  <dcterms:created xsi:type="dcterms:W3CDTF">2026-08-14T19:06:02Z</dcterms:created>
  <dcterms:modified xsi:type="dcterms:W3CDTF">2026-08-16T11:23:42Z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777E692FFD65445180ED2207E8E17BB1_13</vt:lpwstr>
  </property>
</Properties>
</file>